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583" r:id="rId2"/>
    <p:sldId id="584" r:id="rId3"/>
    <p:sldId id="585" r:id="rId4"/>
    <p:sldId id="586" r:id="rId5"/>
    <p:sldId id="587" r:id="rId6"/>
    <p:sldId id="592" r:id="rId7"/>
    <p:sldId id="588" r:id="rId8"/>
    <p:sldId id="589" r:id="rId9"/>
    <p:sldId id="594" r:id="rId10"/>
    <p:sldId id="590" r:id="rId11"/>
    <p:sldId id="591" r:id="rId12"/>
    <p:sldId id="593" r:id="rId13"/>
    <p:sldId id="595" r:id="rId14"/>
    <p:sldId id="597" r:id="rId15"/>
    <p:sldId id="598" r:id="rId16"/>
    <p:sldId id="59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0735"/>
    <a:srgbClr val="A50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33" autoAdjust="0"/>
    <p:restoredTop sz="96292" autoAdjust="0"/>
  </p:normalViewPr>
  <p:slideViewPr>
    <p:cSldViewPr snapToGrid="0" snapToObjects="1">
      <p:cViewPr varScale="1">
        <p:scale>
          <a:sx n="70" d="100"/>
          <a:sy n="70" d="100"/>
        </p:scale>
        <p:origin x="4649" y="5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0F98B-62A6-6D46-848A-1FE717EA371D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F4460-453B-4749-94C9-ECBE9199C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71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27507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4391" y="3115107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87032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1135"/>
            <a:ext cx="10515600" cy="3708901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2C9A73E-32D0-3E41-BB35-9BBDD8439D8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346075"/>
            <a:ext cx="10515600" cy="703079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52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ondar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069" y="280555"/>
            <a:ext cx="10515600" cy="246827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1069" y="2748828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5258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55660"/>
            <a:ext cx="5181600" cy="391103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55660"/>
            <a:ext cx="5181600" cy="391103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DAD8B3C-5C2B-F945-9505-CC6E6FD73E6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346075"/>
            <a:ext cx="10515600" cy="703079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435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column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758219"/>
            <a:ext cx="5157787" cy="3193081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746253"/>
            <a:ext cx="5183188" cy="3193081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79FCC425-FE66-F44E-8B24-59BE88B84F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136895"/>
            <a:ext cx="5159375" cy="492614"/>
          </a:xfrm>
        </p:spPr>
        <p:txBody>
          <a:bodyPr>
            <a:no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4400"/>
            </a:lvl2pPr>
            <a:lvl3pPr marL="914400" indent="0">
              <a:buNone/>
              <a:defRPr sz="4400"/>
            </a:lvl3pPr>
            <a:lvl4pPr marL="1371600" indent="0">
              <a:buNone/>
              <a:defRPr sz="4400"/>
            </a:lvl4pPr>
            <a:lvl5pPr marL="1828800" indent="0">
              <a:buNone/>
              <a:defRPr sz="4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E015267-FE78-4646-83C2-CECC866DF0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96013" y="1136895"/>
            <a:ext cx="5159375" cy="492614"/>
          </a:xfrm>
        </p:spPr>
        <p:txBody>
          <a:bodyPr>
            <a:no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4400"/>
            </a:lvl2pPr>
            <a:lvl3pPr marL="914400" indent="0">
              <a:buNone/>
              <a:defRPr sz="4400"/>
            </a:lvl3pPr>
            <a:lvl4pPr marL="1371600" indent="0">
              <a:buNone/>
              <a:defRPr sz="4400"/>
            </a:lvl4pPr>
            <a:lvl5pPr marL="1828800" indent="0">
              <a:buNone/>
              <a:defRPr sz="4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5DE1A512-6C53-E548-B15D-0A2D4E99982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346075"/>
            <a:ext cx="10515600" cy="703079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7395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mag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49F56D2-0079-5A4E-9FAB-99D6A67043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2462645"/>
            <a:ext cx="5179424" cy="306807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C9DA469E-868F-EB4A-8C08-FB855D98B2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74376" y="2462645"/>
            <a:ext cx="5179424" cy="3068072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0DAA439-5D42-EF46-9049-E1A41FBBA6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11807"/>
            <a:ext cx="10515600" cy="128818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Here is more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3B5FC-75EC-7447-8B6A-95DB9FA749F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346075"/>
            <a:ext cx="10515600" cy="703079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731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ion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04897" y="346075"/>
            <a:ext cx="5948903" cy="5125454"/>
          </a:xfrm>
        </p:spPr>
        <p:txBody>
          <a:bodyPr/>
          <a:lstStyle>
            <a:lvl1pPr>
              <a:defRPr sz="3200">
                <a:solidFill>
                  <a:schemeClr val="accent6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levelz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EBA9D30-F2BC-8B49-AAA4-58605BAC4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596955"/>
            <a:ext cx="4298498" cy="389634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5FC273E-74FE-2745-B332-9B66E1A6FB35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838200" y="348598"/>
            <a:ext cx="4298498" cy="111034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5035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tion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B611CB1-091A-9F42-A819-40B56B6B4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596955"/>
            <a:ext cx="4298498" cy="389634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AA3121C-8426-EE4D-B4F7-9E5BE516FB32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838200" y="348598"/>
            <a:ext cx="4298498" cy="111034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E41A302-2653-3549-85CB-79372B88518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77543" y="348598"/>
            <a:ext cx="6106432" cy="514415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7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lide content text">
            <a:extLst>
              <a:ext uri="{FF2B5EF4-FFF2-40B4-BE49-F238E27FC236}">
                <a16:creationId xmlns:a16="http://schemas.microsoft.com/office/drawing/2014/main" id="{10444066-94ED-2F4C-A6C5-A42B46EFB5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8201" y="2128543"/>
            <a:ext cx="10515600" cy="1690256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This slide is for a single statement. Do not include too much text. People will read the slide instead of listening to you.</a:t>
            </a:r>
          </a:p>
        </p:txBody>
      </p:sp>
      <p:sp>
        <p:nvSpPr>
          <p:cNvPr id="4" name="Subtitle, if applicable">
            <a:extLst>
              <a:ext uri="{FF2B5EF4-FFF2-40B4-BE49-F238E27FC236}">
                <a16:creationId xmlns:a16="http://schemas.microsoft.com/office/drawing/2014/main" id="{3D47FB3D-A6D0-FD40-AF7F-279F650A7F8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38201" y="1209087"/>
            <a:ext cx="10515600" cy="481659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b="0" i="1">
                <a:solidFill>
                  <a:schemeClr val="accent6"/>
                </a:solidFill>
                <a:latin typeface="Georgia" panose="02040502050405020303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subtitle, if applicable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113B9-C9E0-F14F-9413-28BFB0EF48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346075"/>
            <a:ext cx="10515600" cy="703079"/>
          </a:xfrm>
        </p:spPr>
        <p:txBody>
          <a:bodyPr/>
          <a:lstStyle>
            <a:lvl1pPr marL="0" indent="0">
              <a:buNone/>
              <a:defRPr sz="4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8211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711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67A9D6-8A01-464B-AC6C-6A39719F8A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35316" y="3057658"/>
            <a:ext cx="3921369" cy="74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67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08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210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61" r:id="rId9"/>
    <p:sldLayoutId id="2147483662" r:id="rId10"/>
    <p:sldLayoutId id="21474836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B6063-08A1-4104-4CA6-292CE6E41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58D677-952D-74F8-A244-06293753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dirty="0"/>
          </a:p>
          <a:p>
            <a:pPr lvl="1"/>
            <a:r>
              <a:rPr lang="en-US" dirty="0"/>
              <a:t>Why is this attractive?</a:t>
            </a:r>
          </a:p>
          <a:p>
            <a:pPr lvl="1"/>
            <a:r>
              <a:rPr lang="en-US" dirty="0"/>
              <a:t>Anti-trust, Regulatory, and Fiscal Paths</a:t>
            </a:r>
          </a:p>
          <a:p>
            <a:pPr lvl="1"/>
            <a:r>
              <a:rPr lang="en-US" dirty="0"/>
              <a:t>Pros and cons of specific policy ideas</a:t>
            </a:r>
          </a:p>
          <a:p>
            <a:pPr lvl="1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63994-B7B0-4676-E08C-A143744F76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Enhancing Platform Competition</a:t>
            </a:r>
          </a:p>
        </p:txBody>
      </p:sp>
    </p:spTree>
    <p:extLst>
      <p:ext uri="{BB962C8B-B14F-4D97-AF65-F5344CB8AC3E}">
        <p14:creationId xmlns:p14="http://schemas.microsoft.com/office/powerpoint/2010/main" val="3860819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3822D-4A1A-79A2-BFE4-D01552C48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C91C3A-E3A8-3DFC-139E-EFF69823D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877" y="1161720"/>
            <a:ext cx="11728938" cy="4762342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What do we mean by competition? Or a well functioning market?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Potential measures, which will not all line up:</a:t>
            </a:r>
          </a:p>
          <a:p>
            <a:pPr lvl="2"/>
            <a:r>
              <a:rPr lang="en-US" dirty="0"/>
              <a:t>High markups above </a:t>
            </a:r>
            <a:r>
              <a:rPr lang="en-US" i="1" dirty="0"/>
              <a:t>marginal</a:t>
            </a:r>
            <a:r>
              <a:rPr lang="en-US" dirty="0"/>
              <a:t> cost, by restricted supply</a:t>
            </a:r>
          </a:p>
          <a:p>
            <a:pPr lvl="2"/>
            <a:r>
              <a:rPr lang="en-US" dirty="0"/>
              <a:t>High profits</a:t>
            </a:r>
          </a:p>
          <a:p>
            <a:pPr lvl="3"/>
            <a:r>
              <a:rPr lang="en-US" dirty="0"/>
              <a:t>Compared to other industries</a:t>
            </a:r>
          </a:p>
          <a:p>
            <a:pPr lvl="3"/>
            <a:r>
              <a:rPr lang="en-US" dirty="0"/>
              <a:t>Compared to the amount of surplus to consumers or connected industries</a:t>
            </a:r>
          </a:p>
          <a:p>
            <a:pPr lvl="2"/>
            <a:r>
              <a:rPr lang="en-US" dirty="0"/>
              <a:t>High concentration in firm sizes (e.g. the HHI-index)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By which of these measures are digital industries monopolies?</a:t>
            </a:r>
          </a:p>
          <a:p>
            <a:pPr lvl="2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A4F55-0F47-9F77-60D8-4CD2CD0EBFF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Why is Platform Competition Good?</a:t>
            </a:r>
          </a:p>
        </p:txBody>
      </p:sp>
    </p:spTree>
    <p:extLst>
      <p:ext uri="{BB962C8B-B14F-4D97-AF65-F5344CB8AC3E}">
        <p14:creationId xmlns:p14="http://schemas.microsoft.com/office/powerpoint/2010/main" val="4175898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94896D-952F-8C6B-7EB4-4D086D83D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markups above </a:t>
            </a:r>
            <a:r>
              <a:rPr lang="en-US" i="1" dirty="0"/>
              <a:t>marginal</a:t>
            </a:r>
            <a:r>
              <a:rPr lang="en-US" dirty="0"/>
              <a:t> cost</a:t>
            </a:r>
          </a:p>
          <a:p>
            <a:pPr lvl="1"/>
            <a:r>
              <a:rPr lang="en-US" dirty="0"/>
              <a:t>Hard to say:</a:t>
            </a:r>
          </a:p>
          <a:p>
            <a:pPr lvl="2"/>
            <a:r>
              <a:rPr lang="en-US" dirty="0"/>
              <a:t>The marginal cost of an internet search or Facebook scroll is very low, and it is free to consumers, but:</a:t>
            </a:r>
          </a:p>
          <a:p>
            <a:pPr lvl="2"/>
            <a:r>
              <a:rPr lang="en-US" dirty="0"/>
              <a:t>The marginal cost of showing an Ad on Google Search or Instagram is hard to measure, but ad fees are huge when added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DA7FC-F809-345A-DBC2-075B6B58C39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6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A066B2-2BB6-6946-B9EE-79F0C967E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2458"/>
            <a:ext cx="10515600" cy="4895203"/>
          </a:xfrm>
        </p:spPr>
        <p:txBody>
          <a:bodyPr>
            <a:normAutofit lnSpcReduction="10000"/>
          </a:bodyPr>
          <a:lstStyle/>
          <a:p>
            <a:pPr lvl="2"/>
            <a:r>
              <a:rPr lang="en-US" sz="3200" dirty="0"/>
              <a:t>High profits</a:t>
            </a:r>
          </a:p>
          <a:p>
            <a:pPr lvl="3"/>
            <a:r>
              <a:rPr lang="en-US" sz="2800" dirty="0"/>
              <a:t>Compared to other industries</a:t>
            </a:r>
          </a:p>
          <a:p>
            <a:pPr lvl="4"/>
            <a:r>
              <a:rPr lang="en-US" sz="2800" dirty="0"/>
              <a:t>&gt;Yes, these industries have grown very fast and are very profitable for the largest firms”</a:t>
            </a:r>
            <a:br>
              <a:rPr lang="en-US" sz="2800" dirty="0"/>
            </a:br>
            <a:endParaRPr lang="en-US" sz="2800" dirty="0"/>
          </a:p>
          <a:p>
            <a:pPr lvl="3"/>
            <a:r>
              <a:rPr lang="en-US" sz="2800" dirty="0"/>
              <a:t>Compared to the amount of surplus to consumers or connected industries</a:t>
            </a:r>
          </a:p>
          <a:p>
            <a:pPr lvl="4"/>
            <a:r>
              <a:rPr lang="en-US" sz="2800" dirty="0"/>
              <a:t>&gt;Depends on your welfare estimate:</a:t>
            </a:r>
          </a:p>
          <a:p>
            <a:pPr lvl="5"/>
            <a:r>
              <a:rPr lang="en-US" sz="2800" dirty="0">
                <a:solidFill>
                  <a:schemeClr val="accent6"/>
                </a:solidFill>
              </a:rPr>
              <a:t>Some estimate place the user benefit split to be 90% vs. 10% platform profit (in social media)</a:t>
            </a:r>
          </a:p>
          <a:p>
            <a:pPr lvl="5"/>
            <a:r>
              <a:rPr lang="en-US" sz="2800" dirty="0">
                <a:solidFill>
                  <a:schemeClr val="accent6"/>
                </a:solidFill>
              </a:rPr>
              <a:t>Others estimate the net effect of social media to be negative for welfare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049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E3EB09-9035-13DA-9241-5A524BE11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1400"/>
            <a:ext cx="10515600" cy="3708901"/>
          </a:xfrm>
        </p:spPr>
        <p:txBody>
          <a:bodyPr/>
          <a:lstStyle/>
          <a:p>
            <a:r>
              <a:rPr lang="en-US" dirty="0"/>
              <a:t>High concentration in firm sizes (e.g. the HHI-index)</a:t>
            </a:r>
          </a:p>
          <a:p>
            <a:pPr lvl="1"/>
            <a:r>
              <a:rPr lang="en-US" dirty="0"/>
              <a:t>Tech has produced some of the largest firms in the world, but also multitudes of smaller firms – a power-law distribution. Somewhat more concentrated</a:t>
            </a:r>
          </a:p>
          <a:p>
            <a:pPr lvl="1"/>
            <a:r>
              <a:rPr lang="en-US" dirty="0"/>
              <a:t>Precise concentration depends on market definition, which is often a main thing contested in anti-trust cases</a:t>
            </a:r>
          </a:p>
          <a:p>
            <a:pPr lvl="1"/>
            <a:r>
              <a:rPr lang="en-US" dirty="0"/>
              <a:t>Is Meta a monopolist in the “social media” industry, or merely a very large player in the advertising industry?</a:t>
            </a:r>
          </a:p>
        </p:txBody>
      </p:sp>
    </p:spTree>
    <p:extLst>
      <p:ext uri="{BB962C8B-B14F-4D97-AF65-F5344CB8AC3E}">
        <p14:creationId xmlns:p14="http://schemas.microsoft.com/office/powerpoint/2010/main" val="115949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FA0BC-EE71-90DB-AC40-5C8247DB3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F46C30-0084-4C7F-3D84-82344684E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1400"/>
            <a:ext cx="10515600" cy="3708901"/>
          </a:xfrm>
        </p:spPr>
        <p:txBody>
          <a:bodyPr/>
          <a:lstStyle/>
          <a:p>
            <a:r>
              <a:rPr lang="en-US" dirty="0"/>
              <a:t>High concentration in firm sizes (e.g. the HHI-index)</a:t>
            </a:r>
          </a:p>
          <a:p>
            <a:pPr lvl="1"/>
            <a:r>
              <a:rPr lang="en-US" dirty="0"/>
              <a:t>Also all firms are more concentrated: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1F340-F8E2-5F51-21D9-F79BE3347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06" y="1219200"/>
            <a:ext cx="8233985" cy="456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194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09B2E7-EE7D-9065-5BEF-7F022BD6F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135"/>
            <a:ext cx="10515600" cy="4606034"/>
          </a:xfrm>
        </p:spPr>
        <p:txBody>
          <a:bodyPr/>
          <a:lstStyle/>
          <a:p>
            <a:r>
              <a:rPr lang="en-US" dirty="0"/>
              <a:t>Professor Morton Identifies:</a:t>
            </a:r>
          </a:p>
          <a:p>
            <a:pPr lvl="1"/>
            <a:r>
              <a:rPr lang="en-US" dirty="0"/>
              <a:t>Network effects (demand side economies of scale)</a:t>
            </a:r>
          </a:p>
          <a:p>
            <a:pPr lvl="1"/>
            <a:r>
              <a:rPr lang="en-US" dirty="0"/>
              <a:t>Supply side economies of scale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and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Data network effects – a hybrid of the above</a:t>
            </a:r>
          </a:p>
          <a:p>
            <a:pPr lvl="1"/>
            <a:r>
              <a:rPr lang="en-US" dirty="0"/>
              <a:t>‘Ecosystem business model’ – a network effect as applied to suppliers, e.g. : </a:t>
            </a:r>
            <a:r>
              <a:rPr lang="en-US" i="1" dirty="0"/>
              <a:t>“If I have a mobile OS, I can stimulate demand for it by providing ( or getting others to provide) a handset, a map, a browser, and an app store and so forth.‌”</a:t>
            </a:r>
          </a:p>
          <a:p>
            <a:pPr lvl="1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D4CCA-FC9E-F930-D7FF-297A8DFB111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Why Might Digital Platforms Be More Monopolistic?</a:t>
            </a:r>
          </a:p>
        </p:txBody>
      </p:sp>
    </p:spTree>
    <p:extLst>
      <p:ext uri="{BB962C8B-B14F-4D97-AF65-F5344CB8AC3E}">
        <p14:creationId xmlns:p14="http://schemas.microsoft.com/office/powerpoint/2010/main" val="259998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8F8F80-BE01-20E6-8235-FECCB992C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5457"/>
            <a:ext cx="10515600" cy="50593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Traditional economic logic: monopolies undersupply quality/innovation + crush potential competitors to keep prices high. If we had more competition we’d have better, cheaper digital platforms. </a:t>
            </a:r>
          </a:p>
          <a:p>
            <a:endParaRPr lang="en-US" dirty="0"/>
          </a:p>
          <a:p>
            <a:r>
              <a:rPr lang="en-US" dirty="0"/>
              <a:t>Neo-</a:t>
            </a:r>
            <a:r>
              <a:rPr lang="en-US" dirty="0" err="1"/>
              <a:t>Brandeisian</a:t>
            </a:r>
            <a:r>
              <a:rPr lang="en-US" dirty="0"/>
              <a:t> logic: big firms are bad because they manipulate politicians. A </a:t>
            </a:r>
            <a:r>
              <a:rPr lang="en-US" dirty="0" err="1"/>
              <a:t>mittelstand</a:t>
            </a:r>
            <a:r>
              <a:rPr lang="en-US" dirty="0"/>
              <a:t> makes for better, fairer, politics than a country with few big firms.</a:t>
            </a:r>
          </a:p>
          <a:p>
            <a:endParaRPr lang="en-US" dirty="0"/>
          </a:p>
          <a:p>
            <a:r>
              <a:rPr lang="en-US" dirty="0"/>
              <a:t>Austrian-Theil logic: monopoly profits are the entrepreneurs incentive to innovate. If you get rid of profit, you get rid of innovation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EB891-CF7E-B776-0771-F2929B19784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If they’re monopolies is that bad?</a:t>
            </a:r>
          </a:p>
        </p:txBody>
      </p:sp>
    </p:spTree>
    <p:extLst>
      <p:ext uri="{BB962C8B-B14F-4D97-AF65-F5344CB8AC3E}">
        <p14:creationId xmlns:p14="http://schemas.microsoft.com/office/powerpoint/2010/main" val="936605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A2BD5-31A4-5E62-707B-52A8F13A9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043C78-20A0-5FCE-DF4A-2BF44FAD2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85457"/>
            <a:ext cx="11033369" cy="50593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Traditional economic logic: monopolies undersupply quality/innovation + crush potential competitors to keep prices high. If we had more competition we’d have better, cheaper digital platforms. </a:t>
            </a:r>
            <a:r>
              <a:rPr lang="en-US" dirty="0">
                <a:highlight>
                  <a:srgbClr val="000000"/>
                </a:highlight>
              </a:rPr>
              <a:t>(do we want that?)</a:t>
            </a:r>
          </a:p>
          <a:p>
            <a:endParaRPr lang="en-US" dirty="0"/>
          </a:p>
          <a:p>
            <a:r>
              <a:rPr lang="en-US" dirty="0"/>
              <a:t>Neo-</a:t>
            </a:r>
            <a:r>
              <a:rPr lang="en-US" dirty="0" err="1"/>
              <a:t>Brandeisian</a:t>
            </a:r>
            <a:r>
              <a:rPr lang="en-US" dirty="0"/>
              <a:t> logic: big firms are bad because they manipulate politicians. A </a:t>
            </a:r>
            <a:r>
              <a:rPr lang="en-US" dirty="0" err="1"/>
              <a:t>mittelstand</a:t>
            </a:r>
            <a:r>
              <a:rPr lang="en-US" dirty="0"/>
              <a:t> makes for better, fairer, politics than a country with few big firms. </a:t>
            </a:r>
            <a:r>
              <a:rPr lang="en-US" dirty="0">
                <a:highlight>
                  <a:srgbClr val="000000"/>
                </a:highlight>
              </a:rPr>
              <a:t>(is that empirically true?)</a:t>
            </a:r>
          </a:p>
          <a:p>
            <a:endParaRPr lang="en-US" dirty="0"/>
          </a:p>
          <a:p>
            <a:r>
              <a:rPr lang="en-US" dirty="0"/>
              <a:t>Austrian-Theil logic: monopoly profits are the entrepreneur’s incentive to innovate. If you get rid of profit, you get rid of innovation. (</a:t>
            </a:r>
            <a:r>
              <a:rPr lang="en-US" dirty="0">
                <a:highlight>
                  <a:srgbClr val="000000"/>
                </a:highlight>
              </a:rPr>
              <a:t>Does this outweigh downsides?)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DE861-CBCC-E8FE-FE37-CA4D7EED48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If they’re monopolies is that bad?</a:t>
            </a:r>
          </a:p>
        </p:txBody>
      </p:sp>
    </p:spTree>
    <p:extLst>
      <p:ext uri="{BB962C8B-B14F-4D97-AF65-F5344CB8AC3E}">
        <p14:creationId xmlns:p14="http://schemas.microsoft.com/office/powerpoint/2010/main" val="2977233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9434CD-7DB6-8D70-39BA-3C2AB764B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7DA10-355B-F78B-A508-CC17583A7A2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4886E-19F3-8036-D54C-2E8750EB4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362" y="0"/>
            <a:ext cx="9427275" cy="588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12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6E5C7D-61CA-A8A8-98E2-E6C6C30B0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Anti-trust</a:t>
            </a:r>
          </a:p>
          <a:p>
            <a:r>
              <a:rPr lang="en-US" dirty="0"/>
              <a:t>Laws + Regulators</a:t>
            </a:r>
          </a:p>
          <a:p>
            <a:r>
              <a:rPr lang="en-US" dirty="0"/>
              <a:t>Fiscal policy (taxes and subsidies)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8F1ED-0055-8574-7D24-6242233C033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Three Potential Paths</a:t>
            </a:r>
          </a:p>
        </p:txBody>
      </p:sp>
    </p:spTree>
    <p:extLst>
      <p:ext uri="{BB962C8B-B14F-4D97-AF65-F5344CB8AC3E}">
        <p14:creationId xmlns:p14="http://schemas.microsoft.com/office/powerpoint/2010/main" val="1488465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32BBF-0835-1239-C5AE-786B29BA1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2112F8-0ABD-5CA7-BBB5-873E7EF10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Anti-trust</a:t>
            </a:r>
          </a:p>
          <a:p>
            <a:r>
              <a:rPr lang="en-US" dirty="0"/>
              <a:t>Difficult path:</a:t>
            </a:r>
          </a:p>
          <a:p>
            <a:pPr lvl="1"/>
            <a:r>
              <a:rPr lang="en-US" dirty="0"/>
              <a:t>In the US based on the Sherman Anti-Trust </a:t>
            </a:r>
            <a:r>
              <a:rPr lang="en-US" dirty="0" err="1"/>
              <a:t>AcT</a:t>
            </a:r>
            <a:endParaRPr lang="en-US" dirty="0"/>
          </a:p>
          <a:p>
            <a:pPr lvl="1"/>
            <a:r>
              <a:rPr lang="en-US" dirty="0"/>
              <a:t>Need for a “smoking gun” of anti-competitive behavior</a:t>
            </a:r>
          </a:p>
          <a:p>
            <a:pPr lvl="2"/>
            <a:r>
              <a:rPr lang="en-US" dirty="0"/>
              <a:t>(how will AI change this?)</a:t>
            </a:r>
          </a:p>
          <a:p>
            <a:pPr lvl="1"/>
            <a:r>
              <a:rPr lang="en-US" dirty="0"/>
              <a:t>Investigations of particular companies may appear politically motivated</a:t>
            </a:r>
          </a:p>
          <a:p>
            <a:pPr lvl="1"/>
            <a:r>
              <a:rPr lang="en-US" dirty="0"/>
              <a:t>Need for a “remedy” based on the “rule of reason”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EC3A9-D188-4286-EF16-08931DF213A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Three Potential Paths</a:t>
            </a:r>
          </a:p>
        </p:txBody>
      </p:sp>
    </p:spTree>
    <p:extLst>
      <p:ext uri="{BB962C8B-B14F-4D97-AF65-F5344CB8AC3E}">
        <p14:creationId xmlns:p14="http://schemas.microsoft.com/office/powerpoint/2010/main" val="386189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20E91-2C46-5A11-F57B-1A58E6411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65940F-F5BA-C344-11A2-4AD5C1A858F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B8D247-4953-E171-1ED3-0B9544F3D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E93A10-B94F-A592-9BAA-62D1AAB76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644" y="0"/>
            <a:ext cx="4582252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E1650C-402A-C8CE-B1CD-FD8B359DB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896" y="0"/>
            <a:ext cx="4512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71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C092C-FEF7-EC6E-FE65-F6A113BB8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F44316-139C-E683-B290-851119CBB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921335"/>
            <a:ext cx="10515600" cy="4777973"/>
          </a:xfrm>
        </p:spPr>
        <p:txBody>
          <a:bodyPr>
            <a:normAutofit/>
          </a:bodyPr>
          <a:lstStyle/>
          <a:p>
            <a:r>
              <a:rPr lang="en-US" dirty="0"/>
              <a:t>Laws and Regulations:</a:t>
            </a:r>
          </a:p>
          <a:p>
            <a:pPr lvl="1"/>
            <a:r>
              <a:rPr lang="en-US" dirty="0"/>
              <a:t>Lots of theory about what would be good:</a:t>
            </a:r>
          </a:p>
          <a:p>
            <a:pPr lvl="2"/>
            <a:r>
              <a:rPr lang="en-US" dirty="0"/>
              <a:t>Data portability rules to break moats from digital network effects</a:t>
            </a:r>
          </a:p>
          <a:p>
            <a:pPr lvl="2"/>
            <a:r>
              <a:rPr lang="en-US" dirty="0"/>
              <a:t>Other boosts to entry + small firms on platforms</a:t>
            </a:r>
          </a:p>
          <a:p>
            <a:pPr lvl="1"/>
            <a:r>
              <a:rPr lang="en-US" dirty="0"/>
              <a:t>Although some counterintuitive results too:</a:t>
            </a:r>
          </a:p>
          <a:p>
            <a:pPr lvl="2"/>
            <a:r>
              <a:rPr lang="en-US" dirty="0"/>
              <a:t>If social media is bad for you, we should want it to be less competitive</a:t>
            </a:r>
          </a:p>
          <a:p>
            <a:pPr lvl="2"/>
            <a:r>
              <a:rPr lang="en-US" dirty="0"/>
              <a:t>Many small competitive platforms may provide less social value than one ‘natural’ monopolists</a:t>
            </a:r>
          </a:p>
          <a:p>
            <a:pPr lvl="1"/>
            <a:r>
              <a:rPr lang="en-US" dirty="0"/>
              <a:t>Regulators may make rules too slow</a:t>
            </a:r>
          </a:p>
          <a:p>
            <a:pPr lvl="1"/>
            <a:r>
              <a:rPr lang="en-US" dirty="0"/>
              <a:t>Platforms have huge bargaining power to prevent laws they don’t 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79FEE-3FC8-3133-C62D-79674AF7A2C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4137"/>
            <a:ext cx="10515600" cy="703079"/>
          </a:xfrm>
        </p:spPr>
        <p:txBody>
          <a:bodyPr/>
          <a:lstStyle/>
          <a:p>
            <a:r>
              <a:rPr lang="en-US" dirty="0"/>
              <a:t>Three Potential Paths</a:t>
            </a:r>
          </a:p>
        </p:txBody>
      </p:sp>
    </p:spTree>
    <p:extLst>
      <p:ext uri="{BB962C8B-B14F-4D97-AF65-F5344CB8AC3E}">
        <p14:creationId xmlns:p14="http://schemas.microsoft.com/office/powerpoint/2010/main" val="4207084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C4FB9D-6CBC-181A-4CF8-EB57A41A1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90EC9-568F-6185-28D4-5B4378BE101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3877" y="307914"/>
            <a:ext cx="12840676" cy="703079"/>
          </a:xfrm>
        </p:spPr>
        <p:txBody>
          <a:bodyPr>
            <a:normAutofit/>
          </a:bodyPr>
          <a:lstStyle/>
          <a:p>
            <a:r>
              <a:rPr lang="en-US" sz="2400" dirty="0"/>
              <a:t>Some research suggests GDPR and other EU regs discouraged big platforms</a:t>
            </a:r>
          </a:p>
          <a:p>
            <a:endParaRPr lang="en-US" dirty="0"/>
          </a:p>
        </p:txBody>
      </p:sp>
      <p:pic>
        <p:nvPicPr>
          <p:cNvPr id="1026" name="Picture 2" descr="ELI5: Why are Europe's big tech platforms not as big as US and Asia? : r/ europe">
            <a:extLst>
              <a:ext uri="{FF2B5EF4-FFF2-40B4-BE49-F238E27FC236}">
                <a16:creationId xmlns:a16="http://schemas.microsoft.com/office/drawing/2014/main" id="{29376BFC-CBAA-EBBC-609F-E857BE3C6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901" y="1010993"/>
            <a:ext cx="9103084" cy="483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7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3A1567-5335-39E1-B964-5CCC82410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Fiscal Policy:</a:t>
            </a:r>
          </a:p>
          <a:p>
            <a:pPr lvl="1"/>
            <a:r>
              <a:rPr lang="en-US" dirty="0"/>
              <a:t>If platforms are a ‘natural monopoly’ there still might be things to do:</a:t>
            </a:r>
          </a:p>
          <a:p>
            <a:pPr lvl="1"/>
            <a:r>
              <a:rPr lang="en-US" dirty="0"/>
              <a:t>If your concern is just that platforms get an unfair share of the value they create (profit too high) you could tax and transfer</a:t>
            </a:r>
          </a:p>
          <a:p>
            <a:pPr lvl="1"/>
            <a:r>
              <a:rPr lang="en-US" dirty="0"/>
              <a:t>If your concern is that platforms are bad for people you can add a “sin tax”</a:t>
            </a:r>
          </a:p>
          <a:p>
            <a:pPr lvl="1"/>
            <a:r>
              <a:rPr lang="en-US" dirty="0"/>
              <a:t>You might also find ways to subsidize the entry of competitors</a:t>
            </a:r>
          </a:p>
          <a:p>
            <a:pPr lvl="2"/>
            <a:r>
              <a:rPr lang="en-US" dirty="0"/>
              <a:t>Competition “for” the market vs. competition “in” the market 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9770F-D1E1-59D4-F428-CD6B8EA250F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86712"/>
      </p:ext>
    </p:extLst>
  </p:cSld>
  <p:clrMapOvr>
    <a:masterClrMapping/>
  </p:clrMapOvr>
</p:sld>
</file>

<file path=ppt/theme/theme1.xml><?xml version="1.0" encoding="utf-8"?>
<a:theme xmlns:a="http://schemas.openxmlformats.org/drawingml/2006/main" name="Chapman Red Lines Theme">
  <a:themeElements>
    <a:clrScheme name="Chapman">
      <a:dk1>
        <a:srgbClr val="231F20"/>
      </a:dk1>
      <a:lt1>
        <a:srgbClr val="A50034"/>
      </a:lt1>
      <a:dk2>
        <a:srgbClr val="6E6159"/>
      </a:dk2>
      <a:lt2>
        <a:srgbClr val="DDCBA3"/>
      </a:lt2>
      <a:accent1>
        <a:srgbClr val="A50034"/>
      </a:accent1>
      <a:accent2>
        <a:srgbClr val="00966C"/>
      </a:accent2>
      <a:accent3>
        <a:srgbClr val="009CA6"/>
      </a:accent3>
      <a:accent4>
        <a:srgbClr val="6E6159"/>
      </a:accent4>
      <a:accent5>
        <a:srgbClr val="DDCBA3"/>
      </a:accent5>
      <a:accent6>
        <a:srgbClr val="FFFFFF"/>
      </a:accent6>
      <a:hlink>
        <a:srgbClr val="009CA6"/>
      </a:hlink>
      <a:folHlink>
        <a:srgbClr val="231F2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09929af-2d25-45bf-9837-089eb9cfbd01}" enabled="0" method="" siteId="{809929af-2d25-45bf-9837-089eb9cfbd0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14597</TotalTime>
  <Words>900</Words>
  <Application>Microsoft Office PowerPoint</Application>
  <PresentationFormat>Widescreen</PresentationFormat>
  <Paragraphs>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Chapman Red Lines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Benzell, Seth</cp:lastModifiedBy>
  <cp:revision>118</cp:revision>
  <dcterms:created xsi:type="dcterms:W3CDTF">2018-03-15T23:07:36Z</dcterms:created>
  <dcterms:modified xsi:type="dcterms:W3CDTF">2026-04-17T00:48:44Z</dcterms:modified>
</cp:coreProperties>
</file>