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384" r:id="rId3"/>
    <p:sldId id="394" r:id="rId4"/>
    <p:sldId id="395" r:id="rId5"/>
    <p:sldId id="397" r:id="rId6"/>
    <p:sldId id="398" r:id="rId7"/>
    <p:sldId id="385" r:id="rId8"/>
    <p:sldId id="386" r:id="rId9"/>
    <p:sldId id="389" r:id="rId10"/>
    <p:sldId id="391" r:id="rId11"/>
    <p:sldId id="393" r:id="rId12"/>
    <p:sldId id="399" r:id="rId13"/>
    <p:sldId id="388" r:id="rId14"/>
    <p:sldId id="400" r:id="rId15"/>
    <p:sldId id="381" r:id="rId16"/>
    <p:sldId id="382" r:id="rId17"/>
    <p:sldId id="380" r:id="rId18"/>
    <p:sldId id="383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A0735"/>
    <a:srgbClr val="A5003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833" autoAdjust="0"/>
    <p:restoredTop sz="96292" autoAdjust="0"/>
  </p:normalViewPr>
  <p:slideViewPr>
    <p:cSldViewPr snapToGrid="0" snapToObjects="1">
      <p:cViewPr varScale="1">
        <p:scale>
          <a:sx n="87" d="100"/>
          <a:sy n="87" d="100"/>
        </p:scale>
        <p:origin x="63" y="10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640F98B-62A6-6D46-848A-1FE717EA371D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86F4460-453B-4749-94C9-ECBE9199CF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51711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727507"/>
            <a:ext cx="9144000" cy="2387600"/>
          </a:xfrm>
        </p:spPr>
        <p:txBody>
          <a:bodyPr anchor="b">
            <a:normAutofit/>
          </a:bodyPr>
          <a:lstStyle>
            <a:lvl1pPr algn="ctr">
              <a:defRPr sz="60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34391" y="3115107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accent6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8870327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271135"/>
            <a:ext cx="10515600" cy="3708901"/>
          </a:xfrm>
        </p:spPr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  <a:lvl2pPr>
              <a:defRPr>
                <a:solidFill>
                  <a:schemeClr val="accent6"/>
                </a:solidFill>
              </a:defRPr>
            </a:lvl2pPr>
            <a:lvl3pPr>
              <a:defRPr>
                <a:solidFill>
                  <a:schemeClr val="accent6"/>
                </a:solidFill>
              </a:defRPr>
            </a:lvl3pPr>
            <a:lvl4pPr>
              <a:defRPr>
                <a:solidFill>
                  <a:schemeClr val="accent6"/>
                </a:solidFill>
              </a:defRPr>
            </a:lvl4pPr>
            <a:lvl5pPr>
              <a:defRPr>
                <a:solidFill>
                  <a:schemeClr val="accent6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5">
            <a:extLst>
              <a:ext uri="{FF2B5EF4-FFF2-40B4-BE49-F238E27FC236}">
                <a16:creationId xmlns:a16="http://schemas.microsoft.com/office/drawing/2014/main" id="{E2C9A73E-32D0-3E41-BB35-9BBDD8439D88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838200" y="346075"/>
            <a:ext cx="10515600" cy="703079"/>
          </a:xfrm>
        </p:spPr>
        <p:txBody>
          <a:bodyPr/>
          <a:lstStyle>
            <a:lvl1pPr marL="0" indent="0">
              <a:buNone/>
              <a:defRPr sz="400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74528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ondary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1069" y="280555"/>
            <a:ext cx="10515600" cy="2468273"/>
          </a:xfrm>
        </p:spPr>
        <p:txBody>
          <a:bodyPr anchor="b">
            <a:normAutofit/>
          </a:bodyPr>
          <a:lstStyle>
            <a:lvl1pPr algn="ctr">
              <a:defRPr sz="48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1069" y="2748828"/>
            <a:ext cx="10515600" cy="150018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accent6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052589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255660"/>
            <a:ext cx="5181600" cy="3911032"/>
          </a:xfrm>
        </p:spPr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  <a:lvl2pPr>
              <a:defRPr>
                <a:solidFill>
                  <a:schemeClr val="accent6"/>
                </a:solidFill>
              </a:defRPr>
            </a:lvl2pPr>
            <a:lvl3pPr>
              <a:defRPr>
                <a:solidFill>
                  <a:schemeClr val="accent6"/>
                </a:solidFill>
              </a:defRPr>
            </a:lvl3pPr>
            <a:lvl4pPr>
              <a:defRPr>
                <a:solidFill>
                  <a:schemeClr val="accent6"/>
                </a:solidFill>
              </a:defRPr>
            </a:lvl4pPr>
            <a:lvl5pPr>
              <a:defRPr>
                <a:solidFill>
                  <a:schemeClr val="accent6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255660"/>
            <a:ext cx="5181600" cy="3911032"/>
          </a:xfrm>
        </p:spPr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  <a:lvl2pPr>
              <a:defRPr>
                <a:solidFill>
                  <a:schemeClr val="accent6"/>
                </a:solidFill>
              </a:defRPr>
            </a:lvl2pPr>
            <a:lvl3pPr>
              <a:defRPr>
                <a:solidFill>
                  <a:schemeClr val="accent6"/>
                </a:solidFill>
              </a:defRPr>
            </a:lvl3pPr>
            <a:lvl4pPr>
              <a:defRPr>
                <a:solidFill>
                  <a:schemeClr val="accent6"/>
                </a:solidFill>
              </a:defRPr>
            </a:lvl4pPr>
            <a:lvl5pPr>
              <a:defRPr>
                <a:solidFill>
                  <a:schemeClr val="accent6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8DAD8B3C-5C2B-F945-9505-CC6E6FD73E6F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838200" y="346075"/>
            <a:ext cx="10515600" cy="703079"/>
          </a:xfrm>
        </p:spPr>
        <p:txBody>
          <a:bodyPr/>
          <a:lstStyle>
            <a:lvl1pPr marL="0" indent="0">
              <a:buNone/>
              <a:defRPr sz="400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3243534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with column head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1758219"/>
            <a:ext cx="5157787" cy="3193081"/>
          </a:xfrm>
        </p:spPr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  <a:lvl2pPr>
              <a:defRPr>
                <a:solidFill>
                  <a:schemeClr val="accent6"/>
                </a:solidFill>
              </a:defRPr>
            </a:lvl2pPr>
            <a:lvl3pPr>
              <a:defRPr>
                <a:solidFill>
                  <a:schemeClr val="accent6"/>
                </a:solidFill>
              </a:defRPr>
            </a:lvl3pPr>
            <a:lvl4pPr>
              <a:defRPr>
                <a:solidFill>
                  <a:schemeClr val="accent6"/>
                </a:solidFill>
              </a:defRPr>
            </a:lvl4pPr>
            <a:lvl5pPr>
              <a:defRPr>
                <a:solidFill>
                  <a:schemeClr val="accent6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1746253"/>
            <a:ext cx="5183188" cy="3193081"/>
          </a:xfrm>
        </p:spPr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  <a:lvl2pPr>
              <a:defRPr>
                <a:solidFill>
                  <a:schemeClr val="accent6"/>
                </a:solidFill>
              </a:defRPr>
            </a:lvl2pPr>
            <a:lvl3pPr>
              <a:defRPr>
                <a:solidFill>
                  <a:schemeClr val="accent6"/>
                </a:solidFill>
              </a:defRPr>
            </a:lvl3pPr>
            <a:lvl4pPr>
              <a:defRPr>
                <a:solidFill>
                  <a:schemeClr val="accent6"/>
                </a:solidFill>
              </a:defRPr>
            </a:lvl4pPr>
            <a:lvl5pPr>
              <a:defRPr>
                <a:solidFill>
                  <a:schemeClr val="accent6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79FCC425-FE66-F44E-8B24-59BE88B84F5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38200" y="1136895"/>
            <a:ext cx="5159375" cy="492614"/>
          </a:xfrm>
        </p:spPr>
        <p:txBody>
          <a:bodyPr>
            <a:noAutofit/>
          </a:bodyPr>
          <a:lstStyle>
            <a:lvl1pPr marL="0" indent="0">
              <a:buNone/>
              <a:defRPr sz="2800"/>
            </a:lvl1pPr>
            <a:lvl2pPr marL="457200" indent="0">
              <a:buNone/>
              <a:defRPr sz="4400"/>
            </a:lvl2pPr>
            <a:lvl3pPr marL="914400" indent="0">
              <a:buNone/>
              <a:defRPr sz="4400"/>
            </a:lvl3pPr>
            <a:lvl4pPr marL="1371600" indent="0">
              <a:buNone/>
              <a:defRPr sz="4400"/>
            </a:lvl4pPr>
            <a:lvl5pPr marL="1828800" indent="0">
              <a:buNone/>
              <a:defRPr sz="4400"/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EE015267-FE78-4646-83C2-CECC866DF01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196013" y="1136895"/>
            <a:ext cx="5159375" cy="492614"/>
          </a:xfrm>
        </p:spPr>
        <p:txBody>
          <a:bodyPr>
            <a:noAutofit/>
          </a:bodyPr>
          <a:lstStyle>
            <a:lvl1pPr marL="0" indent="0">
              <a:buNone/>
              <a:defRPr sz="2800"/>
            </a:lvl1pPr>
            <a:lvl2pPr marL="457200" indent="0">
              <a:buNone/>
              <a:defRPr sz="4400"/>
            </a:lvl2pPr>
            <a:lvl3pPr marL="914400" indent="0">
              <a:buNone/>
              <a:defRPr sz="4400"/>
            </a:lvl3pPr>
            <a:lvl4pPr marL="1371600" indent="0">
              <a:buNone/>
              <a:defRPr sz="4400"/>
            </a:lvl4pPr>
            <a:lvl5pPr marL="1828800" indent="0">
              <a:buNone/>
              <a:defRPr sz="4400"/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5DE1A512-6C53-E548-B15D-0A2D4E999820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838200" y="346075"/>
            <a:ext cx="10515600" cy="703079"/>
          </a:xfrm>
        </p:spPr>
        <p:txBody>
          <a:bodyPr/>
          <a:lstStyle>
            <a:lvl1pPr marL="0" indent="0">
              <a:buNone/>
              <a:defRPr sz="400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8873956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with images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349F56D2-0079-5A4E-9FAB-99D6A670430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38200" y="2462645"/>
            <a:ext cx="5179424" cy="3068072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7" name="Picture Placeholder 12">
            <a:extLst>
              <a:ext uri="{FF2B5EF4-FFF2-40B4-BE49-F238E27FC236}">
                <a16:creationId xmlns:a16="http://schemas.microsoft.com/office/drawing/2014/main" id="{C9DA469E-868F-EB4A-8C08-FB855D98B2F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174376" y="2462645"/>
            <a:ext cx="5179424" cy="3068072"/>
          </a:xfrm>
        </p:spPr>
        <p:txBody>
          <a:bodyPr/>
          <a:lstStyle/>
          <a:p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80DAA439-5D42-EF46-9049-E1A41FBBA60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38200" y="1111807"/>
            <a:ext cx="10515600" cy="1288184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2400">
                <a:solidFill>
                  <a:schemeClr val="accent6"/>
                </a:solidFill>
              </a:defRPr>
            </a:lvl1pPr>
            <a:lvl2pPr>
              <a:defRPr>
                <a:solidFill>
                  <a:schemeClr val="accent6"/>
                </a:solidFill>
              </a:defRPr>
            </a:lvl2pPr>
            <a:lvl3pPr>
              <a:defRPr>
                <a:solidFill>
                  <a:schemeClr val="accent6"/>
                </a:solidFill>
              </a:defRPr>
            </a:lvl3pPr>
            <a:lvl4pPr>
              <a:defRPr>
                <a:solidFill>
                  <a:schemeClr val="accent6"/>
                </a:solidFill>
              </a:defRPr>
            </a:lvl4pPr>
            <a:lvl5pPr>
              <a:defRPr>
                <a:solidFill>
                  <a:schemeClr val="accent6"/>
                </a:solidFill>
              </a:defRPr>
            </a:lvl5pPr>
          </a:lstStyle>
          <a:p>
            <a:pPr lvl="0"/>
            <a:r>
              <a:rPr lang="en-US" dirty="0"/>
              <a:t>Here is more text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B53B5FC-75EC-7447-8B6A-95DB9FA749FF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38200" y="346075"/>
            <a:ext cx="10515600" cy="703079"/>
          </a:xfrm>
        </p:spPr>
        <p:txBody>
          <a:bodyPr/>
          <a:lstStyle>
            <a:lvl1pPr marL="0" indent="0">
              <a:buNone/>
              <a:defRPr sz="400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9773195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ption with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5404897" y="346075"/>
            <a:ext cx="5948903" cy="5125454"/>
          </a:xfrm>
        </p:spPr>
        <p:txBody>
          <a:bodyPr/>
          <a:lstStyle>
            <a:lvl1pPr>
              <a:defRPr sz="3200">
                <a:solidFill>
                  <a:schemeClr val="accent6"/>
                </a:solidFill>
              </a:defRPr>
            </a:lvl1pPr>
            <a:lvl2pPr>
              <a:defRPr sz="2800">
                <a:solidFill>
                  <a:schemeClr val="accent6"/>
                </a:solidFill>
              </a:defRPr>
            </a:lvl2pPr>
            <a:lvl3pPr>
              <a:defRPr sz="2400">
                <a:solidFill>
                  <a:schemeClr val="accent6"/>
                </a:solidFill>
              </a:defRPr>
            </a:lvl3pPr>
            <a:lvl4pPr>
              <a:defRPr sz="2000">
                <a:solidFill>
                  <a:schemeClr val="accent6"/>
                </a:solidFill>
              </a:defRPr>
            </a:lvl4pPr>
            <a:lvl5pPr>
              <a:defRPr sz="2000">
                <a:solidFill>
                  <a:schemeClr val="accent6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</a:t>
            </a:r>
            <a:r>
              <a:rPr lang="en-US" dirty="0" err="1"/>
              <a:t>levelz</a:t>
            </a:r>
            <a:endParaRPr lang="en-US" dirty="0"/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7EBA9D30-F2BC-8B49-AAA4-58605BAC4E8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8200" y="1596955"/>
            <a:ext cx="4298498" cy="3896345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accent6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B5FC273E-74FE-2745-B332-9B66E1A6FB35}"/>
              </a:ext>
            </a:extLst>
          </p:cNvPr>
          <p:cNvSpPr>
            <a:spLocks noGrp="1"/>
          </p:cNvSpPr>
          <p:nvPr>
            <p:ph type="body" sz="half" idx="10"/>
          </p:nvPr>
        </p:nvSpPr>
        <p:spPr>
          <a:xfrm>
            <a:off x="838200" y="348598"/>
            <a:ext cx="4298498" cy="1110343"/>
          </a:xfrm>
        </p:spPr>
        <p:txBody>
          <a:bodyPr>
            <a:noAutofit/>
          </a:bodyPr>
          <a:lstStyle>
            <a:lvl1pPr marL="0" indent="0">
              <a:buNone/>
              <a:defRPr sz="4000">
                <a:solidFill>
                  <a:schemeClr val="accent6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250358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ption with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6B611CB1-091A-9F42-A819-40B56B6B47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8200" y="1596955"/>
            <a:ext cx="4298498" cy="3896345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accent6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DAA3121C-8426-EE4D-B4F7-9E5BE516FB32}"/>
              </a:ext>
            </a:extLst>
          </p:cNvPr>
          <p:cNvSpPr>
            <a:spLocks noGrp="1"/>
          </p:cNvSpPr>
          <p:nvPr>
            <p:ph type="body" sz="half" idx="10"/>
          </p:nvPr>
        </p:nvSpPr>
        <p:spPr>
          <a:xfrm>
            <a:off x="838200" y="348598"/>
            <a:ext cx="4298498" cy="1110343"/>
          </a:xfrm>
        </p:spPr>
        <p:txBody>
          <a:bodyPr>
            <a:noAutofit/>
          </a:bodyPr>
          <a:lstStyle>
            <a:lvl1pPr marL="0" indent="0">
              <a:buNone/>
              <a:defRPr sz="4000">
                <a:solidFill>
                  <a:schemeClr val="accent6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6E41A302-2653-3549-85CB-79372B88518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377543" y="348598"/>
            <a:ext cx="6106432" cy="5144152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46792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 Statemen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in slide content text">
            <a:extLst>
              <a:ext uri="{FF2B5EF4-FFF2-40B4-BE49-F238E27FC236}">
                <a16:creationId xmlns:a16="http://schemas.microsoft.com/office/drawing/2014/main" id="{10444066-94ED-2F4C-A6C5-A42B46EFB56D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38201" y="2128543"/>
            <a:ext cx="10515600" cy="1690256"/>
          </a:xfrm>
        </p:spPr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This slide is for a single statement. Do not include too much text. People will read the slide instead of listening to you.</a:t>
            </a:r>
          </a:p>
        </p:txBody>
      </p:sp>
      <p:sp>
        <p:nvSpPr>
          <p:cNvPr id="4" name="Subtitle, if applicable">
            <a:extLst>
              <a:ext uri="{FF2B5EF4-FFF2-40B4-BE49-F238E27FC236}">
                <a16:creationId xmlns:a16="http://schemas.microsoft.com/office/drawing/2014/main" id="{3D47FB3D-A6D0-FD40-AF7F-279F650A7F80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838201" y="1209087"/>
            <a:ext cx="10515600" cy="481659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b="0" i="1">
                <a:solidFill>
                  <a:schemeClr val="accent6"/>
                </a:solidFill>
                <a:latin typeface="Georgia" panose="02040502050405020303" pitchFamily="18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 dirty="0"/>
              <a:t>Click to add subtitle, if applicable</a:t>
            </a:r>
          </a:p>
          <a:p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97113B9-C9E0-F14F-9413-28BFB0EF4897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838200" y="346075"/>
            <a:ext cx="10515600" cy="703079"/>
          </a:xfrm>
        </p:spPr>
        <p:txBody>
          <a:bodyPr/>
          <a:lstStyle>
            <a:lvl1pPr marL="0" indent="0">
              <a:buNone/>
              <a:defRPr sz="400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2982113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907117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losing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567A9D6-8A01-464B-AC6C-6A39719F8AC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135316" y="3057658"/>
            <a:ext cx="3921369" cy="7426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42679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37089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221095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6" r:id="rId7"/>
    <p:sldLayoutId id="2147483657" r:id="rId8"/>
    <p:sldLayoutId id="2147483661" r:id="rId9"/>
    <p:sldLayoutId id="2147483662" r:id="rId10"/>
    <p:sldLayoutId id="2147483660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accent6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accent6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accent6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accent6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accent6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9D8F2E-28AE-F84C-A9AF-44F0AE474F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727507"/>
            <a:ext cx="9144000" cy="2973897"/>
          </a:xfrm>
        </p:spPr>
        <p:txBody>
          <a:bodyPr>
            <a:normAutofit/>
          </a:bodyPr>
          <a:lstStyle/>
          <a:p>
            <a:r>
              <a:rPr lang="en-US" dirty="0"/>
              <a:t>Class 10 Slides:</a:t>
            </a:r>
            <a:br>
              <a:rPr lang="en-US" dirty="0"/>
            </a:br>
            <a:r>
              <a:rPr lang="en-US" dirty="0"/>
              <a:t>Utopia Discussion</a:t>
            </a:r>
            <a:endParaRPr lang="en-US" sz="60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63F94B4-E357-7C40-82DD-4CAA26A466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154863"/>
            <a:ext cx="9144000" cy="1655762"/>
          </a:xfrm>
        </p:spPr>
        <p:txBody>
          <a:bodyPr>
            <a:normAutofit/>
          </a:bodyPr>
          <a:lstStyle/>
          <a:p>
            <a:br>
              <a:rPr lang="en-US" dirty="0"/>
            </a:b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83781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5D79304-D07F-1502-3263-BAFF037F7E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71135"/>
            <a:ext cx="10515600" cy="4051002"/>
          </a:xfrm>
        </p:spPr>
        <p:txBody>
          <a:bodyPr>
            <a:normAutofit/>
          </a:bodyPr>
          <a:lstStyle/>
          <a:p>
            <a:r>
              <a:rPr lang="en-US" dirty="0"/>
              <a:t>Let’s Focus on Questions on Meaning/Purpose:</a:t>
            </a:r>
          </a:p>
          <a:p>
            <a:pPr lvl="1"/>
            <a:r>
              <a:rPr lang="en-US" sz="1800" dirty="0"/>
              <a:t>Matt B: According to the authors (1) </a:t>
            </a:r>
            <a:r>
              <a:rPr lang="en-US" sz="1800" b="1" dirty="0"/>
              <a:t>our ultimate role in a 'solved/euphoric' universe is merely to be interesting passengers</a:t>
            </a:r>
            <a:r>
              <a:rPr lang="en-US" sz="1800" dirty="0"/>
              <a:t>, does the pursuit of knowledge still serve as a tool for evolution, or does it become (2) </a:t>
            </a:r>
            <a:r>
              <a:rPr lang="en-US" sz="1800" b="1" dirty="0"/>
              <a:t>a form of 'epistemic cheating' where we intentionally forget what the AI already knows just to feel the satisfaction </a:t>
            </a:r>
            <a:r>
              <a:rPr lang="en-US" sz="1800" dirty="0"/>
              <a:t>of a 'new' discovery?</a:t>
            </a:r>
          </a:p>
          <a:p>
            <a:pPr lvl="1"/>
            <a:r>
              <a:rPr lang="en-US" sz="1800" dirty="0"/>
              <a:t>Lewis: Is death necessary for meaning? (Paraphrase)</a:t>
            </a:r>
          </a:p>
          <a:p>
            <a:pPr lvl="1"/>
            <a:r>
              <a:rPr lang="en-US" sz="1800" dirty="0"/>
              <a:t>Carlo: If you know before entering that the simulation is artificial, can the struggles and achievements inside it still feel genuinely meaningful?</a:t>
            </a:r>
          </a:p>
          <a:p>
            <a:pPr lvl="1"/>
            <a:r>
              <a:rPr lang="en-US" sz="1800" dirty="0"/>
              <a:t>Manny: Is human effort rendered meaningless when the output can be perfectly optimized by a machine?</a:t>
            </a:r>
          </a:p>
          <a:p>
            <a:pPr lvl="1"/>
            <a:r>
              <a:rPr lang="en-US" sz="1800" dirty="0"/>
              <a:t>Colton: does the lack of "bad" in the world actually make it a dystopia?</a:t>
            </a:r>
          </a:p>
          <a:p>
            <a:pPr lvl="1"/>
            <a:r>
              <a:rPr lang="en-US" sz="1800" dirty="0"/>
              <a:t>Alex: Is "life feels meaningless when everything is perfect" a human problem, or just an intellectual's problem?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713618-D0F1-77E5-3749-2DA6A7B49410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Lots of Good Qs this Week</a:t>
            </a:r>
          </a:p>
        </p:txBody>
      </p:sp>
    </p:spTree>
    <p:extLst>
      <p:ext uri="{BB962C8B-B14F-4D97-AF65-F5344CB8AC3E}">
        <p14:creationId xmlns:p14="http://schemas.microsoft.com/office/powerpoint/2010/main" val="15500337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B99C8A9-0DB6-7ABA-73FB-DB620F84B8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Bostrom Identifies a Few Things:</a:t>
            </a:r>
          </a:p>
          <a:p>
            <a:pPr lvl="1"/>
            <a:r>
              <a:rPr lang="en-US" dirty="0"/>
              <a:t>Utility (e.g. Pleasure &amp; Absence of Pain)</a:t>
            </a:r>
          </a:p>
          <a:p>
            <a:pPr lvl="1"/>
            <a:r>
              <a:rPr lang="en-US" dirty="0"/>
              <a:t>Interestingness</a:t>
            </a:r>
          </a:p>
          <a:p>
            <a:pPr lvl="1"/>
            <a:r>
              <a:rPr lang="en-US" dirty="0"/>
              <a:t>Purpose</a:t>
            </a:r>
          </a:p>
          <a:p>
            <a:pPr lvl="1"/>
            <a:r>
              <a:rPr lang="en-US" dirty="0"/>
              <a:t>Meaning</a:t>
            </a:r>
            <a:br>
              <a:rPr lang="en-US" dirty="0"/>
            </a:br>
            <a:br>
              <a:rPr lang="en-US" dirty="0"/>
            </a:br>
            <a:endParaRPr lang="en-US" dirty="0"/>
          </a:p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332051-5D55-5E35-4961-CA06564F83DF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What should a Utopia Have?</a:t>
            </a:r>
          </a:p>
        </p:txBody>
      </p:sp>
    </p:spTree>
    <p:extLst>
      <p:ext uri="{BB962C8B-B14F-4D97-AF65-F5344CB8AC3E}">
        <p14:creationId xmlns:p14="http://schemas.microsoft.com/office/powerpoint/2010/main" val="37241536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2553229-773E-457D-5954-D6627B4F86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Hedonic Valence (i.e. pleasure)</a:t>
            </a:r>
          </a:p>
          <a:p>
            <a:pPr lvl="2"/>
            <a:r>
              <a:rPr lang="en-US" dirty="0"/>
              <a:t>But would we become “mere pleasure blobs”?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805B1C-2C55-90D9-3812-23E7724FE943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Would we become pleasure blobs?	</a:t>
            </a:r>
          </a:p>
        </p:txBody>
      </p:sp>
      <p:pic>
        <p:nvPicPr>
          <p:cNvPr id="4" name="Picture 2" descr="Come Reason's Apologetics Notes: WALL-E, Morality, and Men Without Chests">
            <a:extLst>
              <a:ext uri="{FF2B5EF4-FFF2-40B4-BE49-F238E27FC236}">
                <a16:creationId xmlns:a16="http://schemas.microsoft.com/office/drawing/2014/main" id="{69121241-977B-D53D-9EC9-DBBDAC1842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88153" y="2271270"/>
            <a:ext cx="4699305" cy="338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181530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64B06C-243E-113B-22AC-EDCD47E8B5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5974684-314C-FED0-3FFB-EE79459305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Do we underestimate the pleasure blobs?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36F4D3-62EF-CAC4-3377-B40004762AB4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Would we become pleasure blobs?	</a:t>
            </a:r>
          </a:p>
        </p:txBody>
      </p:sp>
      <p:pic>
        <p:nvPicPr>
          <p:cNvPr id="4098" name="Picture 2" descr="Come Reason's Apologetics Notes: WALL-E, Morality, and Men Without Chests">
            <a:extLst>
              <a:ext uri="{FF2B5EF4-FFF2-40B4-BE49-F238E27FC236}">
                <a16:creationId xmlns:a16="http://schemas.microsoft.com/office/drawing/2014/main" id="{BE923F4D-76A3-AE7B-1A04-8E897D16BB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1300" y="2166909"/>
            <a:ext cx="3810000" cy="274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CE3A9A0-A095-22F3-75B2-DA81BA4534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58298" y="1799161"/>
            <a:ext cx="5618535" cy="41038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03326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8165BE-775B-D536-5A69-309DF538D1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CAF51D5-9F47-E16E-87C7-B4BA49CB75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Hedonic Valence (i.e. pleasure)</a:t>
            </a:r>
          </a:p>
          <a:p>
            <a:r>
              <a:rPr lang="en-US" dirty="0"/>
              <a:t>Experience texture</a:t>
            </a:r>
          </a:p>
          <a:p>
            <a:r>
              <a:rPr lang="en-US" dirty="0"/>
              <a:t>Autotelic activity</a:t>
            </a:r>
          </a:p>
          <a:p>
            <a:r>
              <a:rPr lang="en-US" dirty="0"/>
              <a:t>‘Artificial purpose’</a:t>
            </a:r>
          </a:p>
          <a:p>
            <a:r>
              <a:rPr lang="en-US" dirty="0"/>
              <a:t>Sociocultural entanglement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232D98-0277-2EE6-B885-B53B8AE075EB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Would losing purpose be so bad?	</a:t>
            </a:r>
          </a:p>
        </p:txBody>
      </p:sp>
    </p:spTree>
    <p:extLst>
      <p:ext uri="{BB962C8B-B14F-4D97-AF65-F5344CB8AC3E}">
        <p14:creationId xmlns:p14="http://schemas.microsoft.com/office/powerpoint/2010/main" val="22408015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2BED105-CD6C-26BE-3ADC-DE4C58F088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What’s the meaning of life?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F2CCFE-D75C-D228-CFC9-BD75AAB4199B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Deep Utopia on Meaning</a:t>
            </a:r>
          </a:p>
        </p:txBody>
      </p:sp>
    </p:spTree>
    <p:extLst>
      <p:ext uri="{BB962C8B-B14F-4D97-AF65-F5344CB8AC3E}">
        <p14:creationId xmlns:p14="http://schemas.microsoft.com/office/powerpoint/2010/main" val="41860348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B148FC-E056-4CA8-5ED0-09199540EE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9D215F1-7B92-C160-B583-E5FCFA3CDE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What’s the meaning of life?</a:t>
            </a:r>
          </a:p>
          <a:p>
            <a:r>
              <a:rPr lang="en-US" dirty="0"/>
              <a:t>42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340221-61FF-A766-B7F7-4B8812D1BC3B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Deep Utopia on Meaning</a:t>
            </a:r>
          </a:p>
        </p:txBody>
      </p:sp>
    </p:spTree>
    <p:extLst>
      <p:ext uri="{BB962C8B-B14F-4D97-AF65-F5344CB8AC3E}">
        <p14:creationId xmlns:p14="http://schemas.microsoft.com/office/powerpoint/2010/main" val="14698148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3E25CFD-B9DF-BC03-16BF-8DBBFD8380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Chapman student who works hard to get an MSBA, and goes on to live a long, mostly happy life embedded in the communities of their choosing (e.g. a faith, or civic organization), with a family, 1.9 kids, and a suburban home</a:t>
            </a:r>
            <a:br>
              <a:rPr lang="en-US" dirty="0"/>
            </a:br>
            <a:endParaRPr lang="en-US" dirty="0"/>
          </a:p>
          <a:p>
            <a:r>
              <a:rPr lang="en-US" dirty="0"/>
              <a:t>A radical anarchist who rejects society, and joins a terrorist group seeking to destroy the government, and dies in a suicide bombing at age 25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574BE0-BAFE-63D6-AF16-BED03EC11C1F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Do these lives have meaning?</a:t>
            </a:r>
          </a:p>
        </p:txBody>
      </p:sp>
    </p:spTree>
    <p:extLst>
      <p:ext uri="{BB962C8B-B14F-4D97-AF65-F5344CB8AC3E}">
        <p14:creationId xmlns:p14="http://schemas.microsoft.com/office/powerpoint/2010/main" val="26170542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D5F415-3BA6-B0FB-B3CD-5E8D1FF03BC0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Does This Life Have Meaning?</a:t>
            </a:r>
          </a:p>
        </p:txBody>
      </p:sp>
      <p:pic>
        <p:nvPicPr>
          <p:cNvPr id="2050" name="Picture 2" descr="The Myth of Sisyphus: Is it Why Writers Write? – WRITE NGEOW">
            <a:extLst>
              <a:ext uri="{FF2B5EF4-FFF2-40B4-BE49-F238E27FC236}">
                <a16:creationId xmlns:a16="http://schemas.microsoft.com/office/drawing/2014/main" id="{CAD2D700-DF6E-D5FC-2D63-194BF2D029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3500" y="1071563"/>
            <a:ext cx="9525000" cy="4714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358769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1203A66-E331-CB86-167D-D6C670E977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72838" y="399708"/>
            <a:ext cx="4180962" cy="5146921"/>
          </a:xfrm>
        </p:spPr>
        <p:txBody>
          <a:bodyPr/>
          <a:lstStyle/>
          <a:p>
            <a:r>
              <a:rPr lang="en-US" dirty="0"/>
              <a:t>Which of these would be more or less achievable in a post-AGI utopia?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F72369-5475-8FB4-FE72-C57DC0DB5ECF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A Taxonomy of Meanings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4819C30-C92A-6139-D03C-5D3019D777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8725" y="143827"/>
            <a:ext cx="6129807" cy="56557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65328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6F241B7-6594-7D06-CFC1-7DE166A536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0339" y="1049154"/>
            <a:ext cx="5000662" cy="5462771"/>
          </a:xfrm>
        </p:spPr>
        <p:txBody>
          <a:bodyPr/>
          <a:lstStyle/>
          <a:p>
            <a:r>
              <a:rPr lang="en-US" dirty="0"/>
              <a:t>Dostoyevsky doubts fallen humanity is capable of utopia (it will rebel)</a:t>
            </a:r>
          </a:p>
          <a:p>
            <a:r>
              <a:rPr lang="en-US" dirty="0"/>
              <a:t>What’s the Providential special sauce that would make the Messianic Age/Heaven actually desirable?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4861E3-54FA-E6EB-27E9-E324B8C29D4E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A Theological Perspective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5DDE3EE-F286-6D44-FA3E-9B7CCDB35E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4" y="1013261"/>
            <a:ext cx="4505375" cy="4831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6464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C818ACF-E001-AD2C-4143-52CCB06BFB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17822"/>
            <a:ext cx="10515600" cy="3708901"/>
          </a:xfrm>
        </p:spPr>
        <p:txBody>
          <a:bodyPr/>
          <a:lstStyle/>
          <a:p>
            <a:r>
              <a:rPr lang="en-US" dirty="0"/>
              <a:t>Alexxis: How to get AIs to convergently evolve to cooperate with humans + each other rather than dominate?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F7A281-38F6-6BB6-431F-8D0E6E538F72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Other Topics</a:t>
            </a:r>
          </a:p>
        </p:txBody>
      </p:sp>
      <p:pic>
        <p:nvPicPr>
          <p:cNvPr id="1026" name="Picture 2" descr="Image">
            <a:extLst>
              <a:ext uri="{FF2B5EF4-FFF2-40B4-BE49-F238E27FC236}">
                <a16:creationId xmlns:a16="http://schemas.microsoft.com/office/drawing/2014/main" id="{1559247A-686D-F1F8-F42A-528A9A8499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85854" y="2095500"/>
            <a:ext cx="6705600" cy="4762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8364613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DA22B22-7C34-CE81-B64C-95C15F9B8F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Francis: If robots drive the marginal cost of production to near-zero, how does the economy solve for Positional Scarcity (non-replicable goods like land or history)?  </a:t>
            </a:r>
          </a:p>
          <a:p>
            <a:endParaRPr lang="en-US" dirty="0"/>
          </a:p>
          <a:p>
            <a:r>
              <a:rPr lang="en-US" dirty="0"/>
              <a:t>How do our readings approach these?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E83955-5FC3-BE61-F5AD-13BD490EE118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/>
              <a:t>Other Topics</a:t>
            </a:r>
          </a:p>
        </p:txBody>
      </p:sp>
    </p:spTree>
    <p:extLst>
      <p:ext uri="{BB962C8B-B14F-4D97-AF65-F5344CB8AC3E}">
        <p14:creationId xmlns:p14="http://schemas.microsoft.com/office/powerpoint/2010/main" val="171364007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208D518-A3A4-2F13-A31D-7EDF6DF01F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71135"/>
            <a:ext cx="10515600" cy="4434283"/>
          </a:xfrm>
        </p:spPr>
        <p:txBody>
          <a:bodyPr>
            <a:normAutofit lnSpcReduction="10000"/>
          </a:bodyPr>
          <a:lstStyle/>
          <a:p>
            <a:pPr fontAlgn="base"/>
            <a:r>
              <a:rPr lang="en-US" dirty="0"/>
              <a:t>The final project will ask students to imagine how AI and digital technologies could or should be used in the future. Possible forms include, but are not limited to:</a:t>
            </a:r>
          </a:p>
          <a:p>
            <a:pPr lvl="1" fontAlgn="base"/>
            <a:r>
              <a:rPr lang="en-US" dirty="0"/>
              <a:t>A novel statistical analysis, based on public or collected data, meant to answer an empirical question about the effect of technology on some outcome</a:t>
            </a:r>
          </a:p>
          <a:p>
            <a:pPr lvl="1" fontAlgn="base"/>
            <a:r>
              <a:rPr lang="en-US" dirty="0"/>
              <a:t>A computer program demo-</a:t>
            </a:r>
            <a:r>
              <a:rPr lang="en-US" dirty="0" err="1"/>
              <a:t>ing</a:t>
            </a:r>
            <a:r>
              <a:rPr lang="en-US" dirty="0"/>
              <a:t> some digital platform feature they hope to emerge</a:t>
            </a:r>
          </a:p>
          <a:p>
            <a:pPr lvl="1" fontAlgn="base"/>
            <a:r>
              <a:rPr lang="en-US" dirty="0"/>
              <a:t>A film visualizing the user experience for a proposed or speculative AI or digital technology, and investigating it’s consequences</a:t>
            </a:r>
          </a:p>
          <a:p>
            <a:pPr lvl="1" fontAlgn="base"/>
            <a:r>
              <a:rPr lang="en-US" dirty="0"/>
              <a:t>A business plan and investment pitch for a profitable and socially beneficial enterprise using these technologies</a:t>
            </a:r>
          </a:p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08113B-50C6-1C0F-22D5-7FDC7FDB9809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Additional Final Project Guidance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847056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880428-CD59-8EB9-77D9-9A0822C7F6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8FB1B9F-A829-5FCA-975A-39E8C3CD02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71135"/>
            <a:ext cx="10515600" cy="4434283"/>
          </a:xfrm>
        </p:spPr>
        <p:txBody>
          <a:bodyPr>
            <a:normAutofit/>
          </a:bodyPr>
          <a:lstStyle/>
          <a:p>
            <a:r>
              <a:rPr lang="en-US" b="1" i="1" dirty="0"/>
              <a:t>We encourage you to work on something that can be part of your work portfolio, and/or expands on something already in your portfolio</a:t>
            </a:r>
          </a:p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395DC0-01E1-FAC6-99F5-ABA9E1469C54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Additional Final Project Guidance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966689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4BF9354-056A-9CEA-65ED-EF870D0738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3188" y="1352436"/>
            <a:ext cx="9740824" cy="3767166"/>
          </a:xfrm>
        </p:spPr>
        <p:txBody>
          <a:bodyPr/>
          <a:lstStyle/>
          <a:p>
            <a:r>
              <a:rPr lang="en-US" dirty="0"/>
              <a:t>Presentation and discussion timings:</a:t>
            </a:r>
            <a:br>
              <a:rPr lang="en-US" dirty="0"/>
            </a:br>
            <a:endParaRPr lang="en-US" dirty="0"/>
          </a:p>
          <a:p>
            <a:pPr fontAlgn="base"/>
            <a:r>
              <a:rPr lang="en-US" dirty="0"/>
              <a:t>25 minutes for a group of one + 10 mins discussion</a:t>
            </a:r>
          </a:p>
          <a:p>
            <a:pPr fontAlgn="base"/>
            <a:r>
              <a:rPr lang="en-US" dirty="0"/>
              <a:t>30 minutes for a group of two + 15 mins discussion</a:t>
            </a:r>
          </a:p>
          <a:p>
            <a:pPr fontAlgn="base"/>
            <a:r>
              <a:rPr lang="en-US" dirty="0"/>
              <a:t>35 minutes for a group of three + 15 mins discussion</a:t>
            </a:r>
          </a:p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AE9C9B-1291-DF26-4B78-7B747540E878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838200" y="346075"/>
            <a:ext cx="10515600" cy="1006361"/>
          </a:xfrm>
        </p:spPr>
        <p:txBody>
          <a:bodyPr>
            <a:normAutofit/>
          </a:bodyPr>
          <a:lstStyle/>
          <a:p>
            <a:r>
              <a:rPr lang="en-US" dirty="0"/>
              <a:t>Additional Final Project Guidance</a:t>
            </a:r>
          </a:p>
        </p:txBody>
      </p:sp>
    </p:spTree>
    <p:extLst>
      <p:ext uri="{BB962C8B-B14F-4D97-AF65-F5344CB8AC3E}">
        <p14:creationId xmlns:p14="http://schemas.microsoft.com/office/powerpoint/2010/main" val="142996843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4BEEFE-6A8F-2C63-8C0E-8F1F66C453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3AF1FA5-F4DC-5E68-F42D-8A08FB4F39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02007" y="1012958"/>
            <a:ext cx="9740824" cy="4577476"/>
          </a:xfrm>
        </p:spPr>
        <p:txBody>
          <a:bodyPr>
            <a:normAutofit/>
          </a:bodyPr>
          <a:lstStyle/>
          <a:p>
            <a:r>
              <a:rPr lang="en-US" dirty="0"/>
              <a:t>Every project must include a final artifact in addition to the presentation, for example:</a:t>
            </a:r>
          </a:p>
          <a:p>
            <a:pPr lvl="1"/>
            <a:r>
              <a:rPr lang="en-US" dirty="0"/>
              <a:t>A statistical analysis or computer science/AI alignment research project should include:</a:t>
            </a:r>
          </a:p>
          <a:p>
            <a:pPr lvl="2" fontAlgn="base"/>
            <a:r>
              <a:rPr lang="en-US" dirty="0"/>
              <a:t>An academic style research note explaining methods, sources, </a:t>
            </a:r>
            <a:r>
              <a:rPr lang="en-US" dirty="0" err="1"/>
              <a:t>etc</a:t>
            </a:r>
            <a:r>
              <a:rPr lang="en-US" dirty="0"/>
              <a:t>, as well as a </a:t>
            </a:r>
            <a:r>
              <a:rPr lang="en-US" dirty="0" err="1"/>
              <a:t>github</a:t>
            </a:r>
            <a:r>
              <a:rPr lang="en-US" dirty="0"/>
              <a:t> page with data + code for replication</a:t>
            </a:r>
          </a:p>
          <a:p>
            <a:pPr lvl="1" fontAlgn="base"/>
            <a:r>
              <a:rPr lang="en-US" dirty="0"/>
              <a:t>A computer program project that the professor and students can demo</a:t>
            </a:r>
          </a:p>
          <a:p>
            <a:pPr lvl="2" fontAlgn="base"/>
            <a:r>
              <a:rPr lang="en-US" dirty="0" err="1"/>
              <a:t>Comits</a:t>
            </a:r>
            <a:r>
              <a:rPr lang="en-US" dirty="0"/>
              <a:t> by every member of the team and readme explaining files</a:t>
            </a:r>
          </a:p>
          <a:p>
            <a:pPr lvl="1" fontAlgn="base"/>
            <a:r>
              <a:rPr lang="en-US" dirty="0"/>
              <a:t>Every project should have a breakdown of how members + AI contributed</a:t>
            </a:r>
          </a:p>
          <a:p>
            <a:pPr fontAlgn="base"/>
            <a:r>
              <a:rPr lang="en-US" dirty="0"/>
              <a:t>Before leaving class today, confirm your final artifacts!</a:t>
            </a:r>
          </a:p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FD62BB-5B90-6D98-09FF-F4C8FA3B4962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838200" y="346075"/>
            <a:ext cx="10515600" cy="1006361"/>
          </a:xfrm>
        </p:spPr>
        <p:txBody>
          <a:bodyPr>
            <a:normAutofit/>
          </a:bodyPr>
          <a:lstStyle/>
          <a:p>
            <a:r>
              <a:rPr lang="en-US" dirty="0"/>
              <a:t>Additional Final Project Guidance</a:t>
            </a:r>
          </a:p>
        </p:txBody>
      </p:sp>
    </p:spTree>
    <p:extLst>
      <p:ext uri="{BB962C8B-B14F-4D97-AF65-F5344CB8AC3E}">
        <p14:creationId xmlns:p14="http://schemas.microsoft.com/office/powerpoint/2010/main" val="2996008392"/>
      </p:ext>
    </p:extLst>
  </p:cSld>
  <p:clrMapOvr>
    <a:masterClrMapping/>
  </p:clrMapOvr>
</p:sld>
</file>

<file path=ppt/theme/theme1.xml><?xml version="1.0" encoding="utf-8"?>
<a:theme xmlns:a="http://schemas.openxmlformats.org/drawingml/2006/main" name="Chapman Red Lines Theme">
  <a:themeElements>
    <a:clrScheme name="Chapman">
      <a:dk1>
        <a:srgbClr val="231F20"/>
      </a:dk1>
      <a:lt1>
        <a:srgbClr val="A50034"/>
      </a:lt1>
      <a:dk2>
        <a:srgbClr val="6E6159"/>
      </a:dk2>
      <a:lt2>
        <a:srgbClr val="DDCBA3"/>
      </a:lt2>
      <a:accent1>
        <a:srgbClr val="A50034"/>
      </a:accent1>
      <a:accent2>
        <a:srgbClr val="00966C"/>
      </a:accent2>
      <a:accent3>
        <a:srgbClr val="009CA6"/>
      </a:accent3>
      <a:accent4>
        <a:srgbClr val="6E6159"/>
      </a:accent4>
      <a:accent5>
        <a:srgbClr val="DDCBA3"/>
      </a:accent5>
      <a:accent6>
        <a:srgbClr val="FFFFFF"/>
      </a:accent6>
      <a:hlink>
        <a:srgbClr val="009CA6"/>
      </a:hlink>
      <a:folHlink>
        <a:srgbClr val="231F20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809929af-2d25-45bf-9837-089eb9cfbd01}" enabled="0" method="" siteId="{809929af-2d25-45bf-9837-089eb9cfbd01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15786</TotalTime>
  <Words>794</Words>
  <Application>Microsoft Office PowerPoint</Application>
  <PresentationFormat>Widescreen</PresentationFormat>
  <Paragraphs>68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Arial</vt:lpstr>
      <vt:lpstr>Calibri</vt:lpstr>
      <vt:lpstr>Georgia</vt:lpstr>
      <vt:lpstr>Chapman Red Lines Theme</vt:lpstr>
      <vt:lpstr>Class 10 Slides: Utopia Discussion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Benzell, Seth</cp:lastModifiedBy>
  <cp:revision>122</cp:revision>
  <dcterms:created xsi:type="dcterms:W3CDTF">2018-03-15T23:07:36Z</dcterms:created>
  <dcterms:modified xsi:type="dcterms:W3CDTF">2026-04-24T02:00:51Z</dcterms:modified>
</cp:coreProperties>
</file>