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84" r:id="rId3"/>
    <p:sldId id="394" r:id="rId4"/>
    <p:sldId id="395" r:id="rId5"/>
    <p:sldId id="397" r:id="rId6"/>
    <p:sldId id="398" r:id="rId7"/>
    <p:sldId id="385" r:id="rId8"/>
    <p:sldId id="386" r:id="rId9"/>
    <p:sldId id="389" r:id="rId10"/>
    <p:sldId id="391" r:id="rId11"/>
    <p:sldId id="393" r:id="rId12"/>
    <p:sldId id="399" r:id="rId13"/>
    <p:sldId id="388" r:id="rId14"/>
    <p:sldId id="381" r:id="rId15"/>
    <p:sldId id="382" r:id="rId16"/>
    <p:sldId id="380" r:id="rId17"/>
    <p:sldId id="3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0735"/>
    <a:srgbClr val="A50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33" autoAdjust="0"/>
    <p:restoredTop sz="96292" autoAdjust="0"/>
  </p:normalViewPr>
  <p:slideViewPr>
    <p:cSldViewPr snapToGrid="0" snapToObjects="1">
      <p:cViewPr varScale="1">
        <p:scale>
          <a:sx n="87" d="100"/>
          <a:sy n="87" d="100"/>
        </p:scale>
        <p:origin x="63" y="6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0F98B-62A6-6D46-848A-1FE717EA37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F4460-453B-4749-94C9-ECBE9199C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71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27507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4391" y="3115107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7032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1135"/>
            <a:ext cx="10515600" cy="3708901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2C9A73E-32D0-3E41-BB35-9BBDD8439D8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5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ondar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69" y="280555"/>
            <a:ext cx="10515600" cy="246827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69" y="2748828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525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55660"/>
            <a:ext cx="5181600" cy="391103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55660"/>
            <a:ext cx="5181600" cy="391103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DAD8B3C-5C2B-F945-9505-CC6E6FD73E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435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column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758219"/>
            <a:ext cx="5157787" cy="3193081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746253"/>
            <a:ext cx="5183188" cy="3193081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9FCC425-FE66-F44E-8B24-59BE88B84F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136895"/>
            <a:ext cx="5159375" cy="492614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4400"/>
            </a:lvl2pPr>
            <a:lvl3pPr marL="914400" indent="0">
              <a:buNone/>
              <a:defRPr sz="4400"/>
            </a:lvl3pPr>
            <a:lvl4pPr marL="1371600" indent="0">
              <a:buNone/>
              <a:defRPr sz="4400"/>
            </a:lvl4pPr>
            <a:lvl5pPr marL="1828800" indent="0">
              <a:buNone/>
              <a:defRPr sz="4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E015267-FE78-4646-83C2-CECC866DF0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96013" y="1136895"/>
            <a:ext cx="5159375" cy="492614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4400"/>
            </a:lvl2pPr>
            <a:lvl3pPr marL="914400" indent="0">
              <a:buNone/>
              <a:defRPr sz="4400"/>
            </a:lvl3pPr>
            <a:lvl4pPr marL="1371600" indent="0">
              <a:buNone/>
              <a:defRPr sz="4400"/>
            </a:lvl4pPr>
            <a:lvl5pPr marL="1828800" indent="0">
              <a:buNone/>
              <a:defRPr sz="4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DE1A512-6C53-E548-B15D-0A2D4E99982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7395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mag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49F56D2-0079-5A4E-9FAB-99D6A67043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2462645"/>
            <a:ext cx="5179424" cy="306807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C9DA469E-868F-EB4A-8C08-FB855D98B2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74376" y="2462645"/>
            <a:ext cx="5179424" cy="3068072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0DAA439-5D42-EF46-9049-E1A41FBBA6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11807"/>
            <a:ext cx="10515600" cy="128818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Here is more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3B5FC-75EC-7447-8B6A-95DB9FA749F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731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04897" y="346075"/>
            <a:ext cx="5948903" cy="5125454"/>
          </a:xfrm>
        </p:spPr>
        <p:txBody>
          <a:bodyPr/>
          <a:lstStyle>
            <a:lvl1pPr>
              <a:defRPr sz="3200">
                <a:solidFill>
                  <a:schemeClr val="accent6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levelz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EBA9D30-F2BC-8B49-AAA4-58605BAC4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596955"/>
            <a:ext cx="4298498" cy="389634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FC273E-74FE-2745-B332-9B66E1A6FB35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838200" y="348598"/>
            <a:ext cx="4298498" cy="111034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5035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B611CB1-091A-9F42-A819-40B56B6B4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596955"/>
            <a:ext cx="4298498" cy="389634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AA3121C-8426-EE4D-B4F7-9E5BE516FB32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838200" y="348598"/>
            <a:ext cx="4298498" cy="111034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41A302-2653-3549-85CB-79372B88518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77543" y="348598"/>
            <a:ext cx="6106432" cy="514415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7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lide content text">
            <a:extLst>
              <a:ext uri="{FF2B5EF4-FFF2-40B4-BE49-F238E27FC236}">
                <a16:creationId xmlns:a16="http://schemas.microsoft.com/office/drawing/2014/main" id="{10444066-94ED-2F4C-A6C5-A42B46EFB5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8201" y="2128543"/>
            <a:ext cx="10515600" cy="1690256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This slide is for a single statement. Do not include too much text. People will read the slide instead of listening to you.</a:t>
            </a:r>
          </a:p>
        </p:txBody>
      </p:sp>
      <p:sp>
        <p:nvSpPr>
          <p:cNvPr id="4" name="Subtitle, if applicable">
            <a:extLst>
              <a:ext uri="{FF2B5EF4-FFF2-40B4-BE49-F238E27FC236}">
                <a16:creationId xmlns:a16="http://schemas.microsoft.com/office/drawing/2014/main" id="{3D47FB3D-A6D0-FD40-AF7F-279F650A7F8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38201" y="1209087"/>
            <a:ext cx="10515600" cy="481659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b="0" i="1">
                <a:solidFill>
                  <a:schemeClr val="accent6"/>
                </a:solidFill>
                <a:latin typeface="Georgia" panose="02040502050405020303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subtitle, if applicable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113B9-C9E0-F14F-9413-28BFB0EF48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821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711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67A9D6-8A01-464B-AC6C-6A39719F8A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5316" y="3057658"/>
            <a:ext cx="3921369" cy="74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67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08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210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61" r:id="rId9"/>
    <p:sldLayoutId id="2147483662" r:id="rId10"/>
    <p:sldLayoutId id="21474836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D8F2E-28AE-F84C-A9AF-44F0AE474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7507"/>
            <a:ext cx="9144000" cy="2973897"/>
          </a:xfrm>
        </p:spPr>
        <p:txBody>
          <a:bodyPr>
            <a:normAutofit/>
          </a:bodyPr>
          <a:lstStyle/>
          <a:p>
            <a:r>
              <a:rPr lang="en-US" dirty="0"/>
              <a:t>Class 10 Slides:</a:t>
            </a:r>
            <a:br>
              <a:rPr lang="en-US" dirty="0"/>
            </a:br>
            <a:r>
              <a:rPr lang="en-US" dirty="0"/>
              <a:t>Utopia Discussion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F94B4-E357-7C40-82DD-4CAA26A46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54863"/>
            <a:ext cx="9144000" cy="1655762"/>
          </a:xfrm>
        </p:spPr>
        <p:txBody>
          <a:bodyPr>
            <a:normAutofit/>
          </a:bodyPr>
          <a:lstStyle/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378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D79304-D07F-1502-3263-BAFF037F7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135"/>
            <a:ext cx="10515600" cy="4051002"/>
          </a:xfrm>
        </p:spPr>
        <p:txBody>
          <a:bodyPr>
            <a:normAutofit/>
          </a:bodyPr>
          <a:lstStyle/>
          <a:p>
            <a:r>
              <a:rPr lang="en-US" dirty="0"/>
              <a:t>Let’s Focus on Questions on Meaning/Purpose:</a:t>
            </a:r>
          </a:p>
          <a:p>
            <a:pPr lvl="1"/>
            <a:r>
              <a:rPr lang="en-US" sz="1800" dirty="0"/>
              <a:t>Matt B: According to the authors (1) </a:t>
            </a:r>
            <a:r>
              <a:rPr lang="en-US" sz="1800" b="1" dirty="0"/>
              <a:t>our ultimate role in a 'solved/euphoric' universe is merely to be interesting passengers</a:t>
            </a:r>
            <a:r>
              <a:rPr lang="en-US" sz="1800" dirty="0"/>
              <a:t>, does the pursuit of knowledge still serve as a tool for evolution, or does it become (2) </a:t>
            </a:r>
            <a:r>
              <a:rPr lang="en-US" sz="1800" b="1" dirty="0"/>
              <a:t>a form of 'epistemic cheating' where we intentionally forget what the AI already knows just to feel the satisfaction </a:t>
            </a:r>
            <a:r>
              <a:rPr lang="en-US" sz="1800" dirty="0"/>
              <a:t>of a 'new' discovery?</a:t>
            </a:r>
          </a:p>
          <a:p>
            <a:pPr lvl="1"/>
            <a:r>
              <a:rPr lang="en-US" sz="1800" dirty="0"/>
              <a:t>Lewis: Is death necessary for meaning? (Paraphrase)</a:t>
            </a:r>
          </a:p>
          <a:p>
            <a:pPr lvl="1"/>
            <a:r>
              <a:rPr lang="en-US" sz="1800" dirty="0"/>
              <a:t>Carlo: If you know before entering that the simulation is artificial, can the struggles and achievements inside it still feel genuinely meaningful?</a:t>
            </a:r>
          </a:p>
          <a:p>
            <a:pPr lvl="1"/>
            <a:r>
              <a:rPr lang="en-US" sz="1800" dirty="0"/>
              <a:t>Manny: Is human effort rendered meaningless when the output can be perfectly optimized by a machine?</a:t>
            </a:r>
          </a:p>
          <a:p>
            <a:pPr lvl="1"/>
            <a:r>
              <a:rPr lang="en-US" sz="1800" dirty="0"/>
              <a:t>Colton: does the lack of "bad" in the world actually make it a dystopia?</a:t>
            </a:r>
          </a:p>
          <a:p>
            <a:pPr lvl="1"/>
            <a:r>
              <a:rPr lang="en-US" sz="1800" dirty="0"/>
              <a:t>Alex: Is "life feels meaningless when everything is perfect" a human problem, or just an intellectual's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13618-D0F1-77E5-3749-2DA6A7B4941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Lots of Good Qs this Week</a:t>
            </a:r>
          </a:p>
        </p:txBody>
      </p:sp>
    </p:spTree>
    <p:extLst>
      <p:ext uri="{BB962C8B-B14F-4D97-AF65-F5344CB8AC3E}">
        <p14:creationId xmlns:p14="http://schemas.microsoft.com/office/powerpoint/2010/main" val="155003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99C8A9-0DB6-7ABA-73FB-DB620F84B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Bostrom Identifies a Few Things:</a:t>
            </a:r>
          </a:p>
          <a:p>
            <a:pPr lvl="1"/>
            <a:r>
              <a:rPr lang="en-US" dirty="0"/>
              <a:t>Utility (e.g. Pleasure &amp; Absence of Pain)</a:t>
            </a:r>
          </a:p>
          <a:p>
            <a:pPr lvl="1"/>
            <a:r>
              <a:rPr lang="en-US" dirty="0"/>
              <a:t>Interestingness</a:t>
            </a:r>
          </a:p>
          <a:p>
            <a:pPr lvl="1"/>
            <a:r>
              <a:rPr lang="en-US" dirty="0"/>
              <a:t>Purpose</a:t>
            </a:r>
          </a:p>
          <a:p>
            <a:pPr lvl="1"/>
            <a:r>
              <a:rPr lang="en-US" dirty="0"/>
              <a:t>Meaning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32051-5D55-5E35-4961-CA06564F83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should a Utopia Have?</a:t>
            </a:r>
          </a:p>
        </p:txBody>
      </p:sp>
    </p:spTree>
    <p:extLst>
      <p:ext uri="{BB962C8B-B14F-4D97-AF65-F5344CB8AC3E}">
        <p14:creationId xmlns:p14="http://schemas.microsoft.com/office/powerpoint/2010/main" val="372415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553229-773E-457D-5954-D6627B4F8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Hedonic Valence (i.e. pleasure)</a:t>
            </a:r>
          </a:p>
          <a:p>
            <a:pPr lvl="2"/>
            <a:r>
              <a:rPr lang="en-US" dirty="0"/>
              <a:t>But would we become “mere pleasure blobs”?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05B1C-2C55-90D9-3812-23E7724FE94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Would we become pleasure blobs?	</a:t>
            </a:r>
          </a:p>
        </p:txBody>
      </p:sp>
      <p:pic>
        <p:nvPicPr>
          <p:cNvPr id="4" name="Picture 2" descr="Come Reason's Apologetics Notes: WALL-E, Morality, and Men Without Chests">
            <a:extLst>
              <a:ext uri="{FF2B5EF4-FFF2-40B4-BE49-F238E27FC236}">
                <a16:creationId xmlns:a16="http://schemas.microsoft.com/office/drawing/2014/main" id="{69121241-977B-D53D-9EC9-DBBDAC184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153" y="2271270"/>
            <a:ext cx="4699305" cy="338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153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4B06C-243E-113B-22AC-EDCD47E8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974684-314C-FED0-3FFB-EE7945930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we underestimate the pleasure blobs?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6F4D3-62EF-CAC4-3377-B40004762AB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Would we become pleasure blobs?	</a:t>
            </a:r>
          </a:p>
        </p:txBody>
      </p:sp>
      <p:pic>
        <p:nvPicPr>
          <p:cNvPr id="4098" name="Picture 2" descr="Come Reason's Apologetics Notes: WALL-E, Morality, and Men Without Chests">
            <a:extLst>
              <a:ext uri="{FF2B5EF4-FFF2-40B4-BE49-F238E27FC236}">
                <a16:creationId xmlns:a16="http://schemas.microsoft.com/office/drawing/2014/main" id="{BE923F4D-76A3-AE7B-1A04-8E897D16B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00" y="2166909"/>
            <a:ext cx="38100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E3A9A0-A095-22F3-75B2-DA81BA453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298" y="1799161"/>
            <a:ext cx="5618535" cy="41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3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165BE-775B-D536-5A69-309DF538D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AF51D5-9F47-E16E-87C7-B4BA49CB7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Hedonic Valence (i.e. pleasure)</a:t>
            </a:r>
          </a:p>
          <a:p>
            <a:r>
              <a:rPr lang="en-US" dirty="0"/>
              <a:t>Experience texture</a:t>
            </a:r>
          </a:p>
          <a:p>
            <a:r>
              <a:rPr lang="en-US" dirty="0"/>
              <a:t>Autotelic activity</a:t>
            </a:r>
          </a:p>
          <a:p>
            <a:r>
              <a:rPr lang="en-US" dirty="0"/>
              <a:t>‘Artificial purpose’</a:t>
            </a:r>
          </a:p>
          <a:p>
            <a:r>
              <a:rPr lang="en-US" dirty="0"/>
              <a:t>Sociocultural entanglement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32D98-0277-2EE6-B885-B53B8AE075E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Would losing purpose be so bad?	</a:t>
            </a:r>
          </a:p>
        </p:txBody>
      </p:sp>
    </p:spTree>
    <p:extLst>
      <p:ext uri="{BB962C8B-B14F-4D97-AF65-F5344CB8AC3E}">
        <p14:creationId xmlns:p14="http://schemas.microsoft.com/office/powerpoint/2010/main" val="2240801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BED105-CD6C-26BE-3ADC-DE4C58F08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the meaning of life?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2CCFE-D75C-D228-CFC9-BD75AAB419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Deep Utopia on Meaning</a:t>
            </a:r>
          </a:p>
        </p:txBody>
      </p:sp>
    </p:spTree>
    <p:extLst>
      <p:ext uri="{BB962C8B-B14F-4D97-AF65-F5344CB8AC3E}">
        <p14:creationId xmlns:p14="http://schemas.microsoft.com/office/powerpoint/2010/main" val="4186034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48FC-E056-4CA8-5ED0-09199540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215F1-7B92-C160-B583-E5FCFA3CD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the meaning of life?</a:t>
            </a:r>
          </a:p>
          <a:p>
            <a:r>
              <a:rPr lang="en-US" dirty="0"/>
              <a:t>42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40221-61FF-A766-B7F7-4B8812D1BC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Deep Utopia on Meaning</a:t>
            </a:r>
          </a:p>
        </p:txBody>
      </p:sp>
    </p:spTree>
    <p:extLst>
      <p:ext uri="{BB962C8B-B14F-4D97-AF65-F5344CB8AC3E}">
        <p14:creationId xmlns:p14="http://schemas.microsoft.com/office/powerpoint/2010/main" val="1469814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E25CFD-B9DF-BC03-16BF-8DBBFD838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Chapman student who works hard to get an MSBA, and goes on to live a long, mostly happy life embedded in the communities of their choosing (e.g. a faith, or civic organization), with a family, 1.9 kids, and a suburban home</a:t>
            </a:r>
            <a:br>
              <a:rPr lang="en-US" dirty="0"/>
            </a:br>
            <a:endParaRPr lang="en-US" dirty="0"/>
          </a:p>
          <a:p>
            <a:r>
              <a:rPr lang="en-US" dirty="0"/>
              <a:t>A radical anarchist who rejects society, and joins a terrorist group seeking to destroy the government, and dies in a suicide bombing at age 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74BE0-BAFE-63D6-AF16-BED03EC11C1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Do these lives have meaning?</a:t>
            </a:r>
          </a:p>
        </p:txBody>
      </p:sp>
    </p:spTree>
    <p:extLst>
      <p:ext uri="{BB962C8B-B14F-4D97-AF65-F5344CB8AC3E}">
        <p14:creationId xmlns:p14="http://schemas.microsoft.com/office/powerpoint/2010/main" val="261705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5F415-3BA6-B0FB-B3CD-5E8D1FF03B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Does This Life Have Meaning?</a:t>
            </a:r>
          </a:p>
        </p:txBody>
      </p:sp>
      <p:pic>
        <p:nvPicPr>
          <p:cNvPr id="2050" name="Picture 2" descr="The Myth of Sisyphus: Is it Why Writers Write? – WRITE NGEOW">
            <a:extLst>
              <a:ext uri="{FF2B5EF4-FFF2-40B4-BE49-F238E27FC236}">
                <a16:creationId xmlns:a16="http://schemas.microsoft.com/office/drawing/2014/main" id="{CAD2D700-DF6E-D5FC-2D63-194BF2D02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071563"/>
            <a:ext cx="9525000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5876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203A66-E331-CB86-167D-D6C670E9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2838" y="399708"/>
            <a:ext cx="4180962" cy="5146921"/>
          </a:xfrm>
        </p:spPr>
        <p:txBody>
          <a:bodyPr/>
          <a:lstStyle/>
          <a:p>
            <a:r>
              <a:rPr lang="en-US" dirty="0"/>
              <a:t>Which of these would be more or less achievable in a post-AGI utopia?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72369-5475-8FB4-FE72-C57DC0DB5E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Taxonomy of Meanings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819C30-C92A-6139-D03C-5D3019D77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25" y="143827"/>
            <a:ext cx="6129807" cy="565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32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F241B7-6594-7D06-CFC1-7DE166A53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339" y="1049154"/>
            <a:ext cx="5000662" cy="5462771"/>
          </a:xfrm>
        </p:spPr>
        <p:txBody>
          <a:bodyPr/>
          <a:lstStyle/>
          <a:p>
            <a:r>
              <a:rPr lang="en-US" dirty="0"/>
              <a:t>Dostoyevsky doubts fallen humanity is capable of utopia (it will rebel)</a:t>
            </a:r>
          </a:p>
          <a:p>
            <a:r>
              <a:rPr lang="en-US" dirty="0"/>
              <a:t>What’s the Providential special sauce that would make the Messianic Age/Heaven actually desirable?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861E3-54FA-E6EB-27E9-E324B8C29D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Theological Perspective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DE3EE-F286-6D44-FA3E-9B7CCDB35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4" y="1013261"/>
            <a:ext cx="4505375" cy="483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6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818ACF-E001-AD2C-4143-52CCB06BF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Francis: How to get AIs to convergently evolve to cooperate with humans + each other rather than dominate?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7A281-38F6-6BB6-431F-8D0E6E538F7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Other Topics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1559247A-686D-F1F8-F42A-528A9A849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854" y="2095500"/>
            <a:ext cx="67056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646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08D518-A3A4-2F13-A31D-7EDF6DF01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135"/>
            <a:ext cx="10515600" cy="4434283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The final project will ask students to imagine how AI and digital technologies could or should be used in the future. Possible forms include, but are not limited to:</a:t>
            </a:r>
          </a:p>
          <a:p>
            <a:pPr lvl="1" fontAlgn="base"/>
            <a:r>
              <a:rPr lang="en-US" dirty="0"/>
              <a:t>A novel statistical analysis, based on public or collected data, meant to answer an empirical question about the effect of technology on some outcome</a:t>
            </a:r>
          </a:p>
          <a:p>
            <a:pPr lvl="1" fontAlgn="base"/>
            <a:r>
              <a:rPr lang="en-US" dirty="0"/>
              <a:t>A computer program demo-</a:t>
            </a:r>
            <a:r>
              <a:rPr lang="en-US" dirty="0" err="1"/>
              <a:t>ing</a:t>
            </a:r>
            <a:r>
              <a:rPr lang="en-US" dirty="0"/>
              <a:t> some digital platform feature they hope to emerge</a:t>
            </a:r>
          </a:p>
          <a:p>
            <a:pPr lvl="1" fontAlgn="base"/>
            <a:r>
              <a:rPr lang="en-US" dirty="0"/>
              <a:t>A film visualizing the user experience for a proposed or speculative AI or digital technology, and investigating it’s consequences</a:t>
            </a:r>
          </a:p>
          <a:p>
            <a:pPr lvl="1" fontAlgn="base"/>
            <a:r>
              <a:rPr lang="en-US" dirty="0"/>
              <a:t>A business plan and investment pitch for a profitable and socially beneficial enterprise using these technologies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8113B-50C6-1C0F-22D5-7FDC7FDB980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Additional Final Project Guidance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470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80428-CD59-8EB9-77D9-9A0822C7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FB1B9F-A829-5FCA-975A-39E8C3CD0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135"/>
            <a:ext cx="10515600" cy="4434283"/>
          </a:xfrm>
        </p:spPr>
        <p:txBody>
          <a:bodyPr>
            <a:normAutofit/>
          </a:bodyPr>
          <a:lstStyle/>
          <a:p>
            <a:r>
              <a:rPr lang="en-US" b="1" i="1" dirty="0"/>
              <a:t>We encourage you to work on something that can be part of your work portfolio, and/or expands on something already in your portfolio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95DC0-01E1-FAC6-99F5-ABA9E1469C5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Additional Final Project Guidance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66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BF9354-056A-9CEA-65ED-EF870D073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188" y="1352436"/>
            <a:ext cx="9740824" cy="3767166"/>
          </a:xfrm>
        </p:spPr>
        <p:txBody>
          <a:bodyPr/>
          <a:lstStyle/>
          <a:p>
            <a:r>
              <a:rPr lang="en-US" dirty="0"/>
              <a:t>Presentation and discussion timings: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25 minutes for a group of one + 10 mins discussion</a:t>
            </a:r>
          </a:p>
          <a:p>
            <a:pPr fontAlgn="base"/>
            <a:r>
              <a:rPr lang="en-US" dirty="0"/>
              <a:t>30 minutes for a group of two + 15 mins discussion</a:t>
            </a:r>
          </a:p>
          <a:p>
            <a:pPr fontAlgn="base"/>
            <a:r>
              <a:rPr lang="en-US" dirty="0"/>
              <a:t>35 minutes for a group of three + 15 mins discussion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E9C9B-1291-DF26-4B78-7B747540E8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346075"/>
            <a:ext cx="10515600" cy="1006361"/>
          </a:xfrm>
        </p:spPr>
        <p:txBody>
          <a:bodyPr>
            <a:normAutofit/>
          </a:bodyPr>
          <a:lstStyle/>
          <a:p>
            <a:r>
              <a:rPr lang="en-US" dirty="0"/>
              <a:t>Additional Final Project Guidance</a:t>
            </a:r>
          </a:p>
        </p:txBody>
      </p:sp>
    </p:spTree>
    <p:extLst>
      <p:ext uri="{BB962C8B-B14F-4D97-AF65-F5344CB8AC3E}">
        <p14:creationId xmlns:p14="http://schemas.microsoft.com/office/powerpoint/2010/main" val="1429968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EEFE-6A8F-2C63-8C0E-8F1F66C45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AF1FA5-F4DC-5E68-F42D-8A08FB4F3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007" y="1012958"/>
            <a:ext cx="9740824" cy="4577476"/>
          </a:xfrm>
        </p:spPr>
        <p:txBody>
          <a:bodyPr>
            <a:normAutofit/>
          </a:bodyPr>
          <a:lstStyle/>
          <a:p>
            <a:r>
              <a:rPr lang="en-US" dirty="0"/>
              <a:t>Every project must include a final artifact in addition to the presentation, for example:</a:t>
            </a:r>
          </a:p>
          <a:p>
            <a:pPr lvl="1"/>
            <a:r>
              <a:rPr lang="en-US" dirty="0"/>
              <a:t>A statistical analysis or computer science/AI alignment research project should include:</a:t>
            </a:r>
          </a:p>
          <a:p>
            <a:pPr lvl="2" fontAlgn="base"/>
            <a:r>
              <a:rPr lang="en-US" dirty="0"/>
              <a:t>An academic style research note explaining methods, sources, </a:t>
            </a:r>
            <a:r>
              <a:rPr lang="en-US" dirty="0" err="1"/>
              <a:t>etc</a:t>
            </a:r>
            <a:r>
              <a:rPr lang="en-US" dirty="0"/>
              <a:t>, as well as a </a:t>
            </a:r>
            <a:r>
              <a:rPr lang="en-US" dirty="0" err="1"/>
              <a:t>github</a:t>
            </a:r>
            <a:r>
              <a:rPr lang="en-US" dirty="0"/>
              <a:t> page with data + code for replication</a:t>
            </a:r>
          </a:p>
          <a:p>
            <a:pPr lvl="1" fontAlgn="base"/>
            <a:r>
              <a:rPr lang="en-US" dirty="0"/>
              <a:t>A computer program project that the professor and students can demo</a:t>
            </a:r>
          </a:p>
          <a:p>
            <a:pPr lvl="2" fontAlgn="base"/>
            <a:r>
              <a:rPr lang="en-US" dirty="0" err="1"/>
              <a:t>Comits</a:t>
            </a:r>
            <a:r>
              <a:rPr lang="en-US" dirty="0"/>
              <a:t> by every member of the team and readme explaining files</a:t>
            </a:r>
          </a:p>
          <a:p>
            <a:pPr lvl="1" fontAlgn="base"/>
            <a:r>
              <a:rPr lang="en-US" dirty="0"/>
              <a:t>Every project should have a breakdown of how members + AI contributed</a:t>
            </a:r>
          </a:p>
          <a:p>
            <a:pPr fontAlgn="base"/>
            <a:r>
              <a:rPr lang="en-US" dirty="0"/>
              <a:t>Before leaving class today, confirm your final artifacts!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62BB-5B90-6D98-09FF-F4C8FA3B496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346075"/>
            <a:ext cx="10515600" cy="1006361"/>
          </a:xfrm>
        </p:spPr>
        <p:txBody>
          <a:bodyPr>
            <a:normAutofit/>
          </a:bodyPr>
          <a:lstStyle/>
          <a:p>
            <a:r>
              <a:rPr lang="en-US" dirty="0"/>
              <a:t>Additional Final Project Guidance</a:t>
            </a:r>
          </a:p>
        </p:txBody>
      </p:sp>
    </p:spTree>
    <p:extLst>
      <p:ext uri="{BB962C8B-B14F-4D97-AF65-F5344CB8AC3E}">
        <p14:creationId xmlns:p14="http://schemas.microsoft.com/office/powerpoint/2010/main" val="2996008392"/>
      </p:ext>
    </p:extLst>
  </p:cSld>
  <p:clrMapOvr>
    <a:masterClrMapping/>
  </p:clrMapOvr>
</p:sld>
</file>

<file path=ppt/theme/theme1.xml><?xml version="1.0" encoding="utf-8"?>
<a:theme xmlns:a="http://schemas.openxmlformats.org/drawingml/2006/main" name="Chapman Red Lines Theme">
  <a:themeElements>
    <a:clrScheme name="Chapman">
      <a:dk1>
        <a:srgbClr val="231F20"/>
      </a:dk1>
      <a:lt1>
        <a:srgbClr val="A50034"/>
      </a:lt1>
      <a:dk2>
        <a:srgbClr val="6E6159"/>
      </a:dk2>
      <a:lt2>
        <a:srgbClr val="DDCBA3"/>
      </a:lt2>
      <a:accent1>
        <a:srgbClr val="A50034"/>
      </a:accent1>
      <a:accent2>
        <a:srgbClr val="00966C"/>
      </a:accent2>
      <a:accent3>
        <a:srgbClr val="009CA6"/>
      </a:accent3>
      <a:accent4>
        <a:srgbClr val="6E6159"/>
      </a:accent4>
      <a:accent5>
        <a:srgbClr val="DDCBA3"/>
      </a:accent5>
      <a:accent6>
        <a:srgbClr val="FFFFFF"/>
      </a:accent6>
      <a:hlink>
        <a:srgbClr val="009CA6"/>
      </a:hlink>
      <a:folHlink>
        <a:srgbClr val="231F2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09929af-2d25-45bf-9837-089eb9cfbd01}" enabled="0" method="" siteId="{809929af-2d25-45bf-9837-089eb9cfbd0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15783</TotalTime>
  <Words>756</Words>
  <Application>Microsoft Office PowerPoint</Application>
  <PresentationFormat>Widescreen</PresentationFormat>
  <Paragraphs>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Chapman Red Lines Theme</vt:lpstr>
      <vt:lpstr>Class 10 Slides: Utopia Discussion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Benzell, Seth</cp:lastModifiedBy>
  <cp:revision>120</cp:revision>
  <dcterms:created xsi:type="dcterms:W3CDTF">2018-03-15T23:07:36Z</dcterms:created>
  <dcterms:modified xsi:type="dcterms:W3CDTF">2026-04-24T01:33:44Z</dcterms:modified>
</cp:coreProperties>
</file>